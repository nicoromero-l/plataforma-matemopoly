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2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5" autoAdjust="0"/>
    <p:restoredTop sz="94660"/>
  </p:normalViewPr>
  <p:slideViewPr>
    <p:cSldViewPr snapToGrid="0">
      <p:cViewPr>
        <p:scale>
          <a:sx n="60" d="100"/>
          <a:sy n="60" d="100"/>
        </p:scale>
        <p:origin x="293" y="-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2DEBB5-DB6C-4355-8B10-2F9F57BAC82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146016-7A20-459C-9261-BF920653007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577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24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695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06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77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79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072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478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613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26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5196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108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809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45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727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49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9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60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42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99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89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89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83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809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628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37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 smtClean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7694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latin typeface="Georgia" panose="02040502050405020303" pitchFamily="18" charset="0"/>
              </a:rPr>
              <a:t>1. Un </a:t>
            </a:r>
            <a:r>
              <a:rPr lang="en-US" sz="1400" b="1" dirty="0" err="1">
                <a:latin typeface="Georgia" panose="02040502050405020303" pitchFamily="18" charset="0"/>
              </a:rPr>
              <a:t>jugador</a:t>
            </a:r>
            <a:r>
              <a:rPr lang="en-US" sz="1400" b="1" dirty="0">
                <a:latin typeface="Georgia" panose="02040502050405020303" pitchFamily="18" charset="0"/>
              </a:rPr>
              <a:t> </a:t>
            </a:r>
            <a:r>
              <a:rPr lang="en-US" sz="1400" b="1" dirty="0" err="1">
                <a:latin typeface="Georgia" panose="02040502050405020303" pitchFamily="18" charset="0"/>
              </a:rPr>
              <a:t>gana</a:t>
            </a:r>
            <a:r>
              <a:rPr lang="en-US" sz="1400" b="1" dirty="0">
                <a:latin typeface="Georgia" panose="02040502050405020303" pitchFamily="18" charset="0"/>
              </a:rPr>
              <a:t> 250 </a:t>
            </a:r>
            <a:r>
              <a:rPr lang="en-US" sz="1400" b="1" dirty="0" err="1">
                <a:latin typeface="Georgia" panose="02040502050405020303" pitchFamily="18" charset="0"/>
              </a:rPr>
              <a:t>puntos</a:t>
            </a:r>
            <a:r>
              <a:rPr lang="en-US" sz="1400" b="1" dirty="0">
                <a:latin typeface="Georgia" panose="02040502050405020303" pitchFamily="18" charset="0"/>
              </a:rPr>
              <a:t> y </a:t>
            </a:r>
            <a:r>
              <a:rPr lang="en-US" sz="1400" b="1" dirty="0" err="1">
                <a:latin typeface="Georgia" panose="02040502050405020303" pitchFamily="18" charset="0"/>
              </a:rPr>
              <a:t>luego</a:t>
            </a:r>
            <a:r>
              <a:rPr lang="en-US" sz="1400" b="1" dirty="0">
                <a:latin typeface="Georgia" panose="02040502050405020303" pitchFamily="18" charset="0"/>
              </a:rPr>
              <a:t> </a:t>
            </a:r>
            <a:r>
              <a:rPr lang="en-US" sz="1400" b="1" dirty="0" err="1">
                <a:latin typeface="Georgia" panose="02040502050405020303" pitchFamily="18" charset="0"/>
              </a:rPr>
              <a:t>recibe</a:t>
            </a:r>
            <a:r>
              <a:rPr lang="en-US" sz="1400" b="1" dirty="0">
                <a:latin typeface="Georgia" panose="02040502050405020303" pitchFamily="18" charset="0"/>
              </a:rPr>
              <a:t> 175 </a:t>
            </a:r>
            <a:r>
              <a:rPr lang="en-US" sz="1400" b="1" dirty="0" err="1">
                <a:latin typeface="Georgia" panose="02040502050405020303" pitchFamily="18" charset="0"/>
              </a:rPr>
              <a:t>más</a:t>
            </a:r>
            <a:r>
              <a:rPr lang="en-US" sz="1400" b="1" dirty="0">
                <a:latin typeface="Georgia" panose="02040502050405020303" pitchFamily="18" charset="0"/>
              </a:rPr>
              <a:t>. ¿</a:t>
            </a:r>
            <a:r>
              <a:rPr lang="en-US" sz="1400" b="1" dirty="0" err="1">
                <a:latin typeface="Georgia" panose="02040502050405020303" pitchFamily="18" charset="0"/>
              </a:rPr>
              <a:t>Cuántos</a:t>
            </a:r>
            <a:r>
              <a:rPr lang="en-US" sz="1400" b="1" dirty="0">
                <a:latin typeface="Georgia" panose="02040502050405020303" pitchFamily="18" charset="0"/>
              </a:rPr>
              <a:t> </a:t>
            </a:r>
            <a:r>
              <a:rPr lang="en-US" sz="1400" b="1" dirty="0" err="1">
                <a:latin typeface="Georgia" panose="02040502050405020303" pitchFamily="18" charset="0"/>
              </a:rPr>
              <a:t>puntos</a:t>
            </a:r>
            <a:r>
              <a:rPr lang="en-US" sz="1400" b="1" dirty="0">
                <a:latin typeface="Georgia" panose="02040502050405020303" pitchFamily="18" charset="0"/>
              </a:rPr>
              <a:t> </a:t>
            </a:r>
            <a:r>
              <a:rPr lang="en-US" sz="1400" b="1" dirty="0" err="1">
                <a:latin typeface="Georgia" panose="02040502050405020303" pitchFamily="18" charset="0"/>
              </a:rPr>
              <a:t>tiene</a:t>
            </a:r>
            <a:r>
              <a:rPr lang="en-US" sz="1400" b="1" dirty="0">
                <a:latin typeface="Georgia" panose="02040502050405020303" pitchFamily="18" charset="0"/>
              </a:rPr>
              <a:t> en total?</a:t>
            </a:r>
            <a:r>
              <a:rPr lang="en-US" sz="1600" b="1" dirty="0">
                <a:latin typeface="Georgia" panose="02040502050405020303" pitchFamily="18" charset="0"/>
              </a:rPr>
              <a:t/>
            </a:r>
            <a:br>
              <a:rPr lang="en-US" sz="1600" b="1" dirty="0">
                <a:latin typeface="Georgia" panose="02040502050405020303" pitchFamily="18" charset="0"/>
              </a:rPr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425</a:t>
            </a: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dirty="0" err="1"/>
              <a:t>Calle</a:t>
            </a:r>
            <a:r>
              <a:rPr lang="en-US" dirty="0"/>
              <a:t> de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Fracciones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(150 × 4) + 300 - 200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700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132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 smtClean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5539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2.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propiedad</a:t>
            </a:r>
            <a:r>
              <a:rPr lang="en-US" sz="1400" dirty="0"/>
              <a:t> cuesta 900 </a:t>
            </a:r>
            <a:r>
              <a:rPr lang="en-US" sz="1400" dirty="0" err="1"/>
              <a:t>monedas</a:t>
            </a:r>
            <a:r>
              <a:rPr lang="en-US" sz="1400" dirty="0"/>
              <a:t> y el </a:t>
            </a:r>
            <a:r>
              <a:rPr lang="en-US" sz="1400" dirty="0" err="1"/>
              <a:t>jugador</a:t>
            </a:r>
            <a:r>
              <a:rPr lang="en-US" sz="1400" dirty="0"/>
              <a:t> </a:t>
            </a:r>
            <a:r>
              <a:rPr lang="en-US" sz="1400" dirty="0" err="1"/>
              <a:t>paga</a:t>
            </a:r>
            <a:r>
              <a:rPr lang="en-US" sz="1400" dirty="0"/>
              <a:t> 350. ¿</a:t>
            </a:r>
            <a:r>
              <a:rPr lang="en-US" sz="1400" dirty="0" err="1"/>
              <a:t>Cuánto</a:t>
            </a:r>
            <a:r>
              <a:rPr lang="en-US" sz="1400" dirty="0"/>
              <a:t> </a:t>
            </a:r>
            <a:r>
              <a:rPr lang="en-US" sz="1400" dirty="0" err="1"/>
              <a:t>dinero</a:t>
            </a:r>
            <a:r>
              <a:rPr lang="en-US" sz="1400" dirty="0"/>
              <a:t> le </a:t>
            </a:r>
            <a:r>
              <a:rPr lang="en-US" sz="1400" dirty="0" err="1"/>
              <a:t>queda</a:t>
            </a:r>
            <a:r>
              <a:rPr lang="en-US" sz="1400" dirty="0"/>
              <a:t> </a:t>
            </a:r>
            <a:r>
              <a:rPr lang="en-US" sz="1400" dirty="0" err="1"/>
              <a:t>por</a:t>
            </a:r>
            <a:r>
              <a:rPr lang="en-US" sz="1400" dirty="0"/>
              <a:t> </a:t>
            </a:r>
            <a:r>
              <a:rPr lang="en-US" sz="1400" dirty="0" err="1" smtClean="0"/>
              <a:t>pgar</a:t>
            </a:r>
            <a:r>
              <a:rPr lang="en-US" sz="1400" dirty="0" smtClean="0"/>
              <a:t> </a:t>
            </a:r>
            <a:r>
              <a:rPr lang="en-US" sz="1600" dirty="0"/>
              <a:t>?</a:t>
            </a: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5847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 smtClean="0"/>
              <a:t>Respuesta</a:t>
            </a:r>
            <a:r>
              <a:rPr lang="en-US" sz="1600" dirty="0"/>
              <a:t>: 550</a:t>
            </a:r>
          </a:p>
          <a:p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2. </a:t>
            </a:r>
            <a:r>
              <a:rPr lang="en-US" dirty="0" err="1"/>
              <a:t>Avenida</a:t>
            </a:r>
            <a:r>
              <a:rPr lang="en-US" dirty="0"/>
              <a:t> del </a:t>
            </a:r>
            <a:r>
              <a:rPr lang="en-US" dirty="0" err="1"/>
              <a:t>Álgebra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500 + (80 × 5) ÷ 2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700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096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 smtClean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80021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3. Un </a:t>
            </a:r>
            <a:r>
              <a:rPr lang="en-US" sz="1400" dirty="0" err="1"/>
              <a:t>banco</a:t>
            </a:r>
            <a:r>
              <a:rPr lang="en-US" sz="1400" dirty="0"/>
              <a:t> </a:t>
            </a:r>
            <a:r>
              <a:rPr lang="en-US" sz="1400" dirty="0" err="1"/>
              <a:t>entrega</a:t>
            </a:r>
            <a:r>
              <a:rPr lang="en-US" sz="1400" dirty="0"/>
              <a:t> 45 </a:t>
            </a:r>
            <a:r>
              <a:rPr lang="en-US" sz="1400" dirty="0" err="1"/>
              <a:t>monedas</a:t>
            </a:r>
            <a:r>
              <a:rPr lang="en-US" sz="1400" dirty="0"/>
              <a:t> a </a:t>
            </a:r>
            <a:r>
              <a:rPr lang="en-US" sz="1400" dirty="0" err="1"/>
              <a:t>cada</a:t>
            </a:r>
            <a:r>
              <a:rPr lang="en-US" sz="1400" dirty="0"/>
              <a:t> </a:t>
            </a:r>
            <a:r>
              <a:rPr lang="en-US" sz="1400" dirty="0" err="1"/>
              <a:t>jugador</a:t>
            </a:r>
            <a:r>
              <a:rPr lang="en-US" sz="1400" dirty="0"/>
              <a:t> de un </a:t>
            </a:r>
            <a:r>
              <a:rPr lang="en-US" sz="1400" dirty="0" err="1"/>
              <a:t>equipo</a:t>
            </a:r>
            <a:r>
              <a:rPr lang="en-US" sz="1400" dirty="0"/>
              <a:t> de 6 personas. ¿</a:t>
            </a:r>
            <a:r>
              <a:rPr lang="en-US" sz="1400" dirty="0" err="1"/>
              <a:t>Cuántas</a:t>
            </a:r>
            <a:r>
              <a:rPr lang="en-US" sz="1400" dirty="0"/>
              <a:t> </a:t>
            </a:r>
            <a:r>
              <a:rPr lang="en-US" sz="1600" dirty="0" err="1"/>
              <a:t>monedas</a:t>
            </a:r>
            <a:r>
              <a:rPr lang="en-US" sz="1600" dirty="0"/>
              <a:t> </a:t>
            </a:r>
            <a:r>
              <a:rPr lang="en-US" sz="1600" dirty="0" err="1"/>
              <a:t>entrega</a:t>
            </a:r>
            <a:r>
              <a:rPr lang="en-US" sz="1600" dirty="0"/>
              <a:t> en total</a:t>
            </a:r>
            <a:r>
              <a:rPr lang="en-US" sz="1600" dirty="0" smtClean="0"/>
              <a:t>?</a:t>
            </a: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270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3. Barrio de la </a:t>
            </a:r>
            <a:r>
              <a:rPr lang="en-US" dirty="0" err="1"/>
              <a:t>Geometría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(250 × 3) - 150 + 100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700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055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 smtClean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7694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4. Un </a:t>
            </a:r>
            <a:r>
              <a:rPr lang="en-US" sz="1400" dirty="0" err="1"/>
              <a:t>jugador</a:t>
            </a:r>
            <a:r>
              <a:rPr lang="en-US" sz="1400" dirty="0"/>
              <a:t> </a:t>
            </a:r>
            <a:r>
              <a:rPr lang="en-US" sz="1400" dirty="0" err="1"/>
              <a:t>tiene</a:t>
            </a:r>
            <a:r>
              <a:rPr lang="en-US" sz="1400" dirty="0"/>
              <a:t> 800 </a:t>
            </a:r>
            <a:r>
              <a:rPr lang="en-US" sz="1400" dirty="0" err="1"/>
              <a:t>monedas</a:t>
            </a:r>
            <a:r>
              <a:rPr lang="en-US" sz="1400" dirty="0"/>
              <a:t> y </a:t>
            </a:r>
            <a:r>
              <a:rPr lang="en-US" sz="1400" dirty="0" err="1"/>
              <a:t>pierde</a:t>
            </a:r>
            <a:r>
              <a:rPr lang="en-US" sz="1400" dirty="0"/>
              <a:t> 275 </a:t>
            </a:r>
            <a:r>
              <a:rPr lang="en-US" sz="1400" dirty="0" err="1"/>
              <a:t>por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penalización</a:t>
            </a:r>
            <a:r>
              <a:rPr lang="en-US" sz="1400" dirty="0"/>
              <a:t>. ¿</a:t>
            </a:r>
            <a:r>
              <a:rPr lang="en-US" sz="1400" dirty="0" err="1"/>
              <a:t>Cuántas</a:t>
            </a:r>
            <a:r>
              <a:rPr lang="en-US" sz="1400" dirty="0"/>
              <a:t> </a:t>
            </a:r>
            <a:r>
              <a:rPr lang="en-US" sz="1400" dirty="0" err="1"/>
              <a:t>monedas</a:t>
            </a:r>
            <a:r>
              <a:rPr lang="en-US" sz="1400" dirty="0"/>
              <a:t> </a:t>
            </a:r>
            <a:r>
              <a:rPr lang="en-US" sz="1400" dirty="0" err="1"/>
              <a:t>conserva</a:t>
            </a:r>
            <a:r>
              <a:rPr lang="en-US" sz="1400" dirty="0"/>
              <a:t>?</a:t>
            </a:r>
            <a:br>
              <a:rPr lang="en-US" sz="1400" dirty="0"/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525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4. Ciudad de la </a:t>
            </a:r>
            <a:r>
              <a:rPr lang="en-US" dirty="0" err="1"/>
              <a:t>Estadística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900 ÷ 3 + (120 × 4)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780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737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 smtClean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7694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5. </a:t>
            </a:r>
            <a:r>
              <a:rPr lang="en-US" sz="1400" dirty="0" err="1"/>
              <a:t>Una</a:t>
            </a:r>
            <a:r>
              <a:rPr lang="en-US" sz="1400" dirty="0"/>
              <a:t> ciudad </a:t>
            </a:r>
            <a:r>
              <a:rPr lang="en-US" sz="1400" dirty="0" err="1"/>
              <a:t>matemática</a:t>
            </a:r>
            <a:r>
              <a:rPr lang="en-US" sz="1400" dirty="0"/>
              <a:t> </a:t>
            </a:r>
            <a:r>
              <a:rPr lang="en-US" sz="1400" dirty="0" err="1"/>
              <a:t>tiene</a:t>
            </a:r>
            <a:r>
              <a:rPr lang="en-US" sz="1400" dirty="0"/>
              <a:t> 8 </a:t>
            </a:r>
            <a:r>
              <a:rPr lang="en-US" sz="1400" dirty="0" err="1"/>
              <a:t>calles</a:t>
            </a:r>
            <a:r>
              <a:rPr lang="en-US" sz="1400" dirty="0"/>
              <a:t> y </a:t>
            </a:r>
            <a:r>
              <a:rPr lang="en-US" sz="1400" dirty="0" err="1"/>
              <a:t>cada</a:t>
            </a:r>
            <a:r>
              <a:rPr lang="en-US" sz="1400" dirty="0"/>
              <a:t> </a:t>
            </a:r>
            <a:r>
              <a:rPr lang="en-US" sz="1400" dirty="0" err="1"/>
              <a:t>calle</a:t>
            </a:r>
            <a:r>
              <a:rPr lang="en-US" sz="1400" dirty="0"/>
              <a:t> </a:t>
            </a:r>
            <a:r>
              <a:rPr lang="en-US" sz="1400" dirty="0" err="1"/>
              <a:t>tiene</a:t>
            </a:r>
            <a:r>
              <a:rPr lang="en-US" sz="1400" dirty="0"/>
              <a:t> 35 casas. ¿</a:t>
            </a:r>
            <a:r>
              <a:rPr lang="en-US" sz="1400" dirty="0" err="1"/>
              <a:t>Cuántas</a:t>
            </a:r>
            <a:r>
              <a:rPr lang="en-US" sz="1400" dirty="0"/>
              <a:t> casas hay en total?</a:t>
            </a:r>
            <a:br>
              <a:rPr lang="en-US" sz="1400" dirty="0"/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280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5. </a:t>
            </a:r>
            <a:r>
              <a:rPr lang="en-US" dirty="0" err="1"/>
              <a:t>Parque</a:t>
            </a:r>
            <a:r>
              <a:rPr lang="en-US" dirty="0"/>
              <a:t> del </a:t>
            </a:r>
            <a:r>
              <a:rPr lang="en-US" dirty="0" err="1"/>
              <a:t>Cálculo</a:t>
            </a:r>
            <a:r>
              <a:rPr lang="en-US" dirty="0"/>
              <a:t> Mental</a:t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(350 + 150) × 2 - 200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800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293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 smtClean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7694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6. Un </a:t>
            </a:r>
            <a:r>
              <a:rPr lang="en-US" sz="1400" dirty="0" err="1"/>
              <a:t>jugador</a:t>
            </a:r>
            <a:r>
              <a:rPr lang="en-US" sz="1400" dirty="0"/>
              <a:t> </a:t>
            </a:r>
            <a:r>
              <a:rPr lang="en-US" sz="1400" dirty="0" err="1"/>
              <a:t>recibe</a:t>
            </a:r>
            <a:r>
              <a:rPr lang="en-US" sz="1400" dirty="0"/>
              <a:t> 120 </a:t>
            </a:r>
            <a:r>
              <a:rPr lang="en-US" sz="1400" dirty="0" err="1"/>
              <a:t>monedas</a:t>
            </a:r>
            <a:r>
              <a:rPr lang="en-US" sz="1400" dirty="0"/>
              <a:t> </a:t>
            </a:r>
            <a:r>
              <a:rPr lang="en-US" sz="1400" dirty="0" err="1"/>
              <a:t>por</a:t>
            </a:r>
            <a:r>
              <a:rPr lang="en-US" sz="1400" dirty="0"/>
              <a:t> </a:t>
            </a:r>
            <a:r>
              <a:rPr lang="en-US" sz="1400" dirty="0" err="1"/>
              <a:t>cada</a:t>
            </a:r>
            <a:r>
              <a:rPr lang="en-US" sz="1400" dirty="0"/>
              <a:t> </a:t>
            </a:r>
            <a:r>
              <a:rPr lang="en-US" sz="1400" dirty="0" err="1"/>
              <a:t>reto</a:t>
            </a:r>
            <a:r>
              <a:rPr lang="en-US" sz="1400" dirty="0"/>
              <a:t> </a:t>
            </a:r>
            <a:r>
              <a:rPr lang="en-US" sz="1400" dirty="0" err="1"/>
              <a:t>superado</a:t>
            </a:r>
            <a:r>
              <a:rPr lang="en-US" sz="1400" dirty="0"/>
              <a:t> y </a:t>
            </a:r>
            <a:r>
              <a:rPr lang="en-US" sz="1400" dirty="0" err="1"/>
              <a:t>completa</a:t>
            </a:r>
            <a:r>
              <a:rPr lang="en-US" sz="1400" dirty="0"/>
              <a:t> 5 </a:t>
            </a:r>
            <a:r>
              <a:rPr lang="en-US" sz="1400" dirty="0" err="1"/>
              <a:t>retos</a:t>
            </a:r>
            <a:r>
              <a:rPr lang="en-US" sz="1400" dirty="0"/>
              <a:t>. ¿</a:t>
            </a:r>
            <a:r>
              <a:rPr lang="en-US" sz="1400" dirty="0" err="1"/>
              <a:t>Cuántas</a:t>
            </a:r>
            <a:r>
              <a:rPr lang="en-US" sz="1400" dirty="0"/>
              <a:t> </a:t>
            </a:r>
            <a:r>
              <a:rPr lang="en-US" sz="1400" dirty="0" err="1"/>
              <a:t>monedas</a:t>
            </a:r>
            <a:r>
              <a:rPr lang="en-US" sz="1400" dirty="0"/>
              <a:t> </a:t>
            </a:r>
            <a:r>
              <a:rPr lang="en-US" sz="1400" dirty="0" err="1"/>
              <a:t>gana</a:t>
            </a:r>
            <a:r>
              <a:rPr lang="en-US" sz="1400" dirty="0"/>
              <a:t>?</a:t>
            </a:r>
            <a:br>
              <a:rPr lang="en-US" sz="1400" dirty="0"/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600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6. </a:t>
            </a:r>
            <a:r>
              <a:rPr lang="en-US" dirty="0" err="1"/>
              <a:t>Avenida</a:t>
            </a:r>
            <a:r>
              <a:rPr lang="en-US" dirty="0"/>
              <a:t> de los </a:t>
            </a:r>
            <a:r>
              <a:rPr lang="en-US" dirty="0" err="1"/>
              <a:t>Números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1000 - (250 ÷ 5) + 300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1250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32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 smtClean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7694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7. Un </a:t>
            </a:r>
            <a:r>
              <a:rPr lang="en-US" sz="1400" dirty="0" err="1"/>
              <a:t>premio</a:t>
            </a:r>
            <a:r>
              <a:rPr lang="en-US" sz="1400" dirty="0"/>
              <a:t> de 960 </a:t>
            </a:r>
            <a:r>
              <a:rPr lang="en-US" sz="1400" dirty="0" err="1"/>
              <a:t>monedas</a:t>
            </a:r>
            <a:r>
              <a:rPr lang="en-US" sz="1400" dirty="0"/>
              <a:t> se </a:t>
            </a:r>
            <a:r>
              <a:rPr lang="en-US" sz="1400" dirty="0" err="1"/>
              <a:t>reparte</a:t>
            </a:r>
            <a:r>
              <a:rPr lang="en-US" sz="1400" dirty="0"/>
              <a:t> entre 8 </a:t>
            </a:r>
            <a:r>
              <a:rPr lang="en-US" sz="1400" dirty="0" err="1"/>
              <a:t>jugadores</a:t>
            </a:r>
            <a:r>
              <a:rPr lang="en-US" sz="1400" dirty="0"/>
              <a:t>. ¿</a:t>
            </a:r>
            <a:r>
              <a:rPr lang="en-US" sz="1400" dirty="0" err="1"/>
              <a:t>Cuánto</a:t>
            </a:r>
            <a:r>
              <a:rPr lang="en-US" sz="1400" dirty="0"/>
              <a:t> </a:t>
            </a:r>
            <a:r>
              <a:rPr lang="en-US" sz="1400" dirty="0" err="1"/>
              <a:t>recibe</a:t>
            </a:r>
            <a:r>
              <a:rPr lang="en-US" sz="1400" dirty="0"/>
              <a:t> </a:t>
            </a:r>
            <a:r>
              <a:rPr lang="en-US" sz="1400" dirty="0" err="1"/>
              <a:t>cada</a:t>
            </a:r>
            <a:r>
              <a:rPr lang="en-US" sz="1400" dirty="0"/>
              <a:t> </a:t>
            </a:r>
            <a:r>
              <a:rPr lang="en-US" sz="1400" dirty="0" err="1"/>
              <a:t>uno</a:t>
            </a:r>
            <a:r>
              <a:rPr lang="en-US" sz="1400" dirty="0"/>
              <a:t>?</a:t>
            </a:r>
            <a:br>
              <a:rPr lang="en-US" sz="1400" dirty="0"/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120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7. Distrito de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Ecuaciones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(600 ÷ 2) + (90 × 6)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840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844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 smtClean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7694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8.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propiedad</a:t>
            </a:r>
            <a:r>
              <a:rPr lang="en-US" sz="1400" dirty="0"/>
              <a:t> vale 1500 </a:t>
            </a:r>
            <a:r>
              <a:rPr lang="en-US" sz="1400" dirty="0" err="1"/>
              <a:t>monedas</a:t>
            </a:r>
            <a:r>
              <a:rPr lang="en-US" sz="1400" dirty="0"/>
              <a:t> y </a:t>
            </a:r>
            <a:r>
              <a:rPr lang="en-US" sz="1400" dirty="0" err="1"/>
              <a:t>tiene</a:t>
            </a:r>
            <a:r>
              <a:rPr lang="en-US" sz="1400" dirty="0"/>
              <a:t> un </a:t>
            </a:r>
            <a:r>
              <a:rPr lang="en-US" sz="1400" dirty="0" err="1"/>
              <a:t>descuento</a:t>
            </a:r>
            <a:r>
              <a:rPr lang="en-US" sz="1400" dirty="0"/>
              <a:t> de 450. ¿</a:t>
            </a:r>
            <a:r>
              <a:rPr lang="en-US" sz="1400" dirty="0" err="1"/>
              <a:t>Cuál</a:t>
            </a:r>
            <a:r>
              <a:rPr lang="en-US" sz="1400" dirty="0"/>
              <a:t> </a:t>
            </a:r>
            <a:r>
              <a:rPr lang="en-US" sz="1400" dirty="0" err="1"/>
              <a:t>es</a:t>
            </a:r>
            <a:r>
              <a:rPr lang="en-US" sz="1400" dirty="0"/>
              <a:t> </a:t>
            </a:r>
            <a:r>
              <a:rPr lang="en-US" sz="1400" dirty="0" err="1"/>
              <a:t>su</a:t>
            </a:r>
            <a:r>
              <a:rPr lang="en-US" sz="1400" dirty="0"/>
              <a:t> </a:t>
            </a:r>
            <a:r>
              <a:rPr lang="en-US" sz="1400" dirty="0" err="1"/>
              <a:t>nuevo</a:t>
            </a:r>
            <a:r>
              <a:rPr lang="en-US" sz="1400" dirty="0"/>
              <a:t> </a:t>
            </a:r>
            <a:r>
              <a:rPr lang="en-US" sz="1400" dirty="0" err="1"/>
              <a:t>precio</a:t>
            </a:r>
            <a:r>
              <a:rPr lang="en-US" sz="1400" dirty="0"/>
              <a:t>?</a:t>
            </a:r>
            <a:br>
              <a:rPr lang="en-US" sz="1400" dirty="0"/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1050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8. </a:t>
            </a:r>
            <a:r>
              <a:rPr lang="en-US" dirty="0" err="1"/>
              <a:t>Zona</a:t>
            </a:r>
            <a:r>
              <a:rPr lang="en-US" dirty="0"/>
              <a:t> de los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Matemáticos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(700 + 500) ÷ 4 × 3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900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822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 smtClean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7694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9. Un </a:t>
            </a:r>
            <a:r>
              <a:rPr lang="en-US" sz="1400" dirty="0" err="1"/>
              <a:t>jugador</a:t>
            </a:r>
            <a:r>
              <a:rPr lang="en-US" sz="1400" dirty="0"/>
              <a:t> </a:t>
            </a:r>
            <a:r>
              <a:rPr lang="en-US" sz="1400" dirty="0" err="1"/>
              <a:t>compra</a:t>
            </a:r>
            <a:r>
              <a:rPr lang="en-US" sz="1400" dirty="0"/>
              <a:t> 7 </a:t>
            </a:r>
            <a:r>
              <a:rPr lang="en-US" sz="1400" dirty="0" err="1"/>
              <a:t>tarjetas</a:t>
            </a:r>
            <a:r>
              <a:rPr lang="en-US" sz="1400" dirty="0"/>
              <a:t> </a:t>
            </a:r>
            <a:r>
              <a:rPr lang="en-US" sz="1400" dirty="0" err="1"/>
              <a:t>matemáticas</a:t>
            </a:r>
            <a:r>
              <a:rPr lang="en-US" sz="1400" dirty="0"/>
              <a:t> a 85 </a:t>
            </a:r>
            <a:r>
              <a:rPr lang="en-US" sz="1400" dirty="0" err="1"/>
              <a:t>monedas</a:t>
            </a:r>
            <a:r>
              <a:rPr lang="en-US" sz="1400" dirty="0"/>
              <a:t> </a:t>
            </a:r>
            <a:r>
              <a:rPr lang="en-US" sz="1400" dirty="0" err="1"/>
              <a:t>cada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. ¿</a:t>
            </a:r>
            <a:r>
              <a:rPr lang="en-US" sz="1400" dirty="0" err="1"/>
              <a:t>Cuánto</a:t>
            </a:r>
            <a:r>
              <a:rPr lang="en-US" sz="1400" dirty="0"/>
              <a:t> </a:t>
            </a:r>
            <a:r>
              <a:rPr lang="en-US" sz="1400" dirty="0" err="1"/>
              <a:t>paga</a:t>
            </a:r>
            <a:r>
              <a:rPr lang="en-US" sz="1400" dirty="0"/>
              <a:t> en total?</a:t>
            </a:r>
            <a:br>
              <a:rPr lang="en-US" sz="1400" dirty="0"/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595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9. Plaza de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Operaciones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5847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Operación</a:t>
            </a:r>
            <a:r>
              <a:rPr lang="en-US" sz="1600" dirty="0"/>
              <a:t>: (450 × 2) - (300 ÷ 3)</a:t>
            </a:r>
            <a:br>
              <a:rPr lang="en-US" sz="1600" dirty="0"/>
            </a:br>
            <a:endParaRPr 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800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086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 smtClean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7694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10. El </a:t>
            </a:r>
            <a:r>
              <a:rPr lang="en-US" sz="1400" dirty="0" err="1"/>
              <a:t>banco</a:t>
            </a:r>
            <a:r>
              <a:rPr lang="en-US" sz="1400" dirty="0"/>
              <a:t> </a:t>
            </a:r>
            <a:r>
              <a:rPr lang="en-US" sz="1400" dirty="0" err="1"/>
              <a:t>tiene</a:t>
            </a:r>
            <a:r>
              <a:rPr lang="en-US" sz="1400" dirty="0"/>
              <a:t> 2000 </a:t>
            </a:r>
            <a:r>
              <a:rPr lang="en-US" sz="1400" dirty="0" err="1"/>
              <a:t>monedas</a:t>
            </a:r>
            <a:r>
              <a:rPr lang="en-US" sz="1400" dirty="0"/>
              <a:t> y </a:t>
            </a:r>
            <a:r>
              <a:rPr lang="en-US" sz="1400" dirty="0" err="1"/>
              <a:t>entrega</a:t>
            </a:r>
            <a:r>
              <a:rPr lang="en-US" sz="1400" dirty="0"/>
              <a:t> 725 a los </a:t>
            </a:r>
            <a:r>
              <a:rPr lang="en-US" sz="1400" dirty="0" err="1"/>
              <a:t>jugadores</a:t>
            </a:r>
            <a:r>
              <a:rPr lang="en-US" sz="1400" dirty="0"/>
              <a:t>. ¿</a:t>
            </a:r>
            <a:r>
              <a:rPr lang="en-US" sz="1400" dirty="0" err="1"/>
              <a:t>Cuántas</a:t>
            </a:r>
            <a:r>
              <a:rPr lang="en-US" sz="1400" dirty="0"/>
              <a:t> </a:t>
            </a:r>
            <a:r>
              <a:rPr lang="en-US" sz="1400" dirty="0" err="1"/>
              <a:t>monedas</a:t>
            </a:r>
            <a:r>
              <a:rPr lang="en-US" sz="1400" dirty="0"/>
              <a:t> </a:t>
            </a:r>
            <a:r>
              <a:rPr lang="en-US" sz="1400" dirty="0" err="1"/>
              <a:t>quedan</a:t>
            </a:r>
            <a:r>
              <a:rPr lang="en-US" sz="1400" dirty="0"/>
              <a:t>?</a:t>
            </a:r>
            <a:br>
              <a:rPr lang="en-US" sz="1400" dirty="0"/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1275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10. </a:t>
            </a:r>
            <a:r>
              <a:rPr lang="en-US" dirty="0" err="1"/>
              <a:t>Reino</a:t>
            </a:r>
            <a:r>
              <a:rPr lang="en-US" dirty="0"/>
              <a:t> de la </a:t>
            </a:r>
            <a:r>
              <a:rPr lang="en-US" dirty="0" err="1"/>
              <a:t>Multiplicación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(200 × 8) + 600 ÷ 2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1900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089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 smtClean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98488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11. Un </a:t>
            </a:r>
            <a:r>
              <a:rPr lang="en-US" sz="1400" dirty="0" err="1"/>
              <a:t>jugador</a:t>
            </a:r>
            <a:r>
              <a:rPr lang="en-US" sz="1400" dirty="0"/>
              <a:t> </a:t>
            </a:r>
            <a:r>
              <a:rPr lang="en-US" sz="1400" dirty="0" err="1"/>
              <a:t>gana</a:t>
            </a:r>
            <a:r>
              <a:rPr lang="en-US" sz="1400" dirty="0"/>
              <a:t> 4 </a:t>
            </a:r>
            <a:r>
              <a:rPr lang="en-US" sz="1400" dirty="0" err="1"/>
              <a:t>partidas</a:t>
            </a:r>
            <a:r>
              <a:rPr lang="en-US" sz="1400" dirty="0"/>
              <a:t> y en </a:t>
            </a:r>
            <a:r>
              <a:rPr lang="en-US" sz="1400" dirty="0" err="1"/>
              <a:t>cada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recibe</a:t>
            </a:r>
            <a:r>
              <a:rPr lang="en-US" sz="1400" dirty="0"/>
              <a:t> 150 </a:t>
            </a:r>
            <a:r>
              <a:rPr lang="en-US" sz="1400" dirty="0" err="1"/>
              <a:t>monedas</a:t>
            </a:r>
            <a:r>
              <a:rPr lang="en-US" sz="1400" dirty="0"/>
              <a:t>. ¿</a:t>
            </a:r>
            <a:r>
              <a:rPr lang="en-US" sz="1400" dirty="0" err="1"/>
              <a:t>Cuánto</a:t>
            </a:r>
            <a:r>
              <a:rPr lang="en-US" sz="1400" dirty="0"/>
              <a:t> </a:t>
            </a:r>
            <a:r>
              <a:rPr lang="en-US" sz="1400" dirty="0" err="1"/>
              <a:t>gana</a:t>
            </a:r>
            <a:r>
              <a:rPr lang="en-US" sz="1400" dirty="0"/>
              <a:t> en total?</a:t>
            </a:r>
            <a:br>
              <a:rPr lang="en-US" sz="1400" dirty="0"/>
            </a:br>
            <a:r>
              <a:rPr lang="en-US" sz="1400" dirty="0"/>
              <a:t/>
            </a:r>
            <a:br>
              <a:rPr lang="en-US" sz="1400" dirty="0"/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600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11. </a:t>
            </a:r>
            <a:r>
              <a:rPr lang="en-US" dirty="0" err="1"/>
              <a:t>Avenida</a:t>
            </a:r>
            <a:r>
              <a:rPr lang="en-US" dirty="0"/>
              <a:t> de la </a:t>
            </a:r>
            <a:r>
              <a:rPr lang="en-US" dirty="0" err="1"/>
              <a:t>División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(1200 ÷ 4) + (250 × 3)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1050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651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 smtClean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7694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12.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propiedad</a:t>
            </a:r>
            <a:r>
              <a:rPr lang="en-US" sz="1400" dirty="0"/>
              <a:t> produce 144 </a:t>
            </a:r>
            <a:r>
              <a:rPr lang="en-US" sz="1400" dirty="0" err="1"/>
              <a:t>monedas</a:t>
            </a:r>
            <a:r>
              <a:rPr lang="en-US" sz="1400" dirty="0"/>
              <a:t> de </a:t>
            </a:r>
            <a:r>
              <a:rPr lang="en-US" sz="1400" dirty="0" err="1"/>
              <a:t>alquiler</a:t>
            </a:r>
            <a:r>
              <a:rPr lang="en-US" sz="1400" dirty="0"/>
              <a:t> y se </a:t>
            </a:r>
            <a:r>
              <a:rPr lang="en-US" sz="1400" dirty="0" err="1"/>
              <a:t>reparte</a:t>
            </a:r>
            <a:r>
              <a:rPr lang="en-US" sz="1400" dirty="0"/>
              <a:t> entre 12 </a:t>
            </a:r>
            <a:r>
              <a:rPr lang="en-US" sz="1400" dirty="0" err="1"/>
              <a:t>jugadores</a:t>
            </a:r>
            <a:r>
              <a:rPr lang="en-US" sz="1400" dirty="0"/>
              <a:t>. ¿</a:t>
            </a:r>
            <a:r>
              <a:rPr lang="en-US" sz="1400" dirty="0" err="1"/>
              <a:t>Cuánto</a:t>
            </a:r>
            <a:r>
              <a:rPr lang="en-US" sz="1400" dirty="0"/>
              <a:t> </a:t>
            </a:r>
            <a:r>
              <a:rPr lang="en-US" sz="1400" dirty="0" err="1"/>
              <a:t>recibe</a:t>
            </a:r>
            <a:r>
              <a:rPr lang="en-US" sz="1400" dirty="0"/>
              <a:t> </a:t>
            </a:r>
            <a:r>
              <a:rPr lang="en-US" sz="1400" dirty="0" err="1"/>
              <a:t>cada</a:t>
            </a:r>
            <a:r>
              <a:rPr lang="en-US" sz="1400" dirty="0"/>
              <a:t> </a:t>
            </a:r>
            <a:r>
              <a:rPr lang="en-US" sz="1400" dirty="0" err="1"/>
              <a:t>uno</a:t>
            </a:r>
            <a:r>
              <a:rPr lang="en-US" sz="1400" dirty="0"/>
              <a:t>?</a:t>
            </a:r>
            <a:br>
              <a:rPr lang="en-US" sz="1400" dirty="0"/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12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12. </a:t>
            </a:r>
            <a:r>
              <a:rPr lang="en-US" dirty="0" err="1"/>
              <a:t>Mundo</a:t>
            </a:r>
            <a:r>
              <a:rPr lang="en-US" dirty="0"/>
              <a:t> de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Potencias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(300 × 5) - 400 + 250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1350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324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26895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 smtClean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5539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 smtClean="0"/>
              <a:t>Esta</a:t>
            </a:r>
            <a:r>
              <a:rPr lang="en-US" sz="1400" dirty="0" smtClean="0"/>
              <a:t> </a:t>
            </a:r>
            <a:r>
              <a:rPr lang="en-US" sz="1400" dirty="0" err="1" smtClean="0"/>
              <a:t>tarjeta</a:t>
            </a:r>
            <a:r>
              <a:rPr lang="en-US" sz="1400" dirty="0" smtClean="0"/>
              <a:t> </a:t>
            </a:r>
            <a:r>
              <a:rPr lang="en-US" sz="1400" dirty="0" err="1" smtClean="0"/>
              <a:t>será</a:t>
            </a:r>
            <a:r>
              <a:rPr lang="en-US" sz="1400" dirty="0" smtClean="0"/>
              <a:t> </a:t>
            </a:r>
            <a:r>
              <a:rPr lang="en-US" sz="1400" dirty="0" err="1" smtClean="0"/>
              <a:t>utilizada</a:t>
            </a:r>
            <a:r>
              <a:rPr lang="en-US" sz="1400" dirty="0" smtClean="0"/>
              <a:t> para </a:t>
            </a:r>
            <a:r>
              <a:rPr lang="en-US" sz="1400" dirty="0" err="1" smtClean="0"/>
              <a:t>salir</a:t>
            </a:r>
            <a:r>
              <a:rPr lang="en-US" sz="1400" dirty="0" smtClean="0"/>
              <a:t> de la </a:t>
            </a:r>
            <a:r>
              <a:rPr lang="en-US" sz="1400" dirty="0" err="1" smtClean="0"/>
              <a:t>casilla</a:t>
            </a:r>
            <a:r>
              <a:rPr lang="en-US" sz="1400" dirty="0" smtClean="0"/>
              <a:t> de </a:t>
            </a:r>
            <a:r>
              <a:rPr lang="en-US" sz="1400" dirty="0" err="1" smtClean="0"/>
              <a:t>castigo</a:t>
            </a:r>
            <a:r>
              <a:rPr lang="en-US" sz="1400" dirty="0" smtClean="0"/>
              <a:t>.</a:t>
            </a:r>
            <a:r>
              <a:rPr lang="en-US" sz="1400" dirty="0"/>
              <a:t/>
            </a:r>
            <a:br>
              <a:rPr lang="en-US" sz="1400" dirty="0"/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 smtClean="0"/>
              <a:t>Esta</a:t>
            </a:r>
            <a:r>
              <a:rPr lang="en-US" dirty="0" smtClean="0"/>
              <a:t> </a:t>
            </a:r>
            <a:r>
              <a:rPr lang="en-US" dirty="0" err="1" smtClean="0"/>
              <a:t>tarjeta</a:t>
            </a:r>
            <a:r>
              <a:rPr lang="en-US" dirty="0" smtClean="0"/>
              <a:t> </a:t>
            </a:r>
            <a:r>
              <a:rPr lang="en-US" dirty="0" err="1" smtClean="0"/>
              <a:t>será</a:t>
            </a:r>
            <a:r>
              <a:rPr lang="en-US" dirty="0" smtClean="0"/>
              <a:t> </a:t>
            </a:r>
            <a:r>
              <a:rPr lang="en-US" dirty="0" err="1" smtClean="0"/>
              <a:t>utilizada</a:t>
            </a:r>
            <a:r>
              <a:rPr lang="en-US" dirty="0" smtClean="0"/>
              <a:t> para </a:t>
            </a:r>
            <a:r>
              <a:rPr lang="en-US" dirty="0" err="1" smtClean="0"/>
              <a:t>salir</a:t>
            </a:r>
            <a:r>
              <a:rPr lang="en-US" dirty="0" smtClean="0"/>
              <a:t> de la </a:t>
            </a:r>
            <a:r>
              <a:rPr lang="en-US" dirty="0" err="1" smtClean="0"/>
              <a:t>casilla</a:t>
            </a:r>
            <a:r>
              <a:rPr lang="en-US" dirty="0" smtClean="0"/>
              <a:t> de </a:t>
            </a:r>
            <a:r>
              <a:rPr lang="en-US" dirty="0" err="1" smtClean="0"/>
              <a:t>castigo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18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470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592</Words>
  <Application>Microsoft Office PowerPoint</Application>
  <PresentationFormat>Panorámica</PresentationFormat>
  <Paragraphs>88</Paragraphs>
  <Slides>14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Georgia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XANDERDESK</dc:creator>
  <cp:lastModifiedBy>XANDERDESK</cp:lastModifiedBy>
  <cp:revision>7</cp:revision>
  <dcterms:created xsi:type="dcterms:W3CDTF">2026-09-15T16:31:12Z</dcterms:created>
  <dcterms:modified xsi:type="dcterms:W3CDTF">2026-09-15T19:30:28Z</dcterms:modified>
</cp:coreProperties>
</file>
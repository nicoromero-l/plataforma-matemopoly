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2" r:id="rId14"/>
    <p:sldId id="27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75" autoAdjust="0"/>
    <p:restoredTop sz="94660"/>
  </p:normalViewPr>
  <p:slideViewPr>
    <p:cSldViewPr snapToGrid="0">
      <p:cViewPr varScale="1">
        <p:scale>
          <a:sx n="82" d="100"/>
          <a:sy n="82" d="100"/>
        </p:scale>
        <p:origin x="5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2DEBB5-DB6C-4355-8B10-2F9F57BAC82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146016-7A20-459C-9261-BF920653007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577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146016-7A20-459C-9261-BF920653007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2245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146016-7A20-459C-9261-BF920653007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6951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146016-7A20-459C-9261-BF920653007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0060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146016-7A20-459C-9261-BF920653007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2771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146016-7A20-459C-9261-BF920653007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1797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146016-7A20-459C-9261-BF920653007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0722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146016-7A20-459C-9261-BF920653007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4784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146016-7A20-459C-9261-BF920653007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2613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146016-7A20-459C-9261-BF920653007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526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146016-7A20-459C-9261-BF920653007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5196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146016-7A20-459C-9261-BF920653007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9108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146016-7A20-459C-9261-BF920653007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4809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146016-7A20-459C-9261-BF920653007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945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C2CC1-C416-44DF-B401-E044EC2221AA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CE41F-1A7D-47BD-813F-0D16DCB7E05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727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C2CC1-C416-44DF-B401-E044EC2221AA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CE41F-1A7D-47BD-813F-0D16DCB7E05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492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C2CC1-C416-44DF-B401-E044EC2221AA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CE41F-1A7D-47BD-813F-0D16DCB7E05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392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C2CC1-C416-44DF-B401-E044EC2221AA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CE41F-1A7D-47BD-813F-0D16DCB7E05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760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C2CC1-C416-44DF-B401-E044EC2221AA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CE41F-1A7D-47BD-813F-0D16DCB7E05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842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C2CC1-C416-44DF-B401-E044EC2221AA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CE41F-1A7D-47BD-813F-0D16DCB7E05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899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C2CC1-C416-44DF-B401-E044EC2221AA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CE41F-1A7D-47BD-813F-0D16DCB7E05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189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C2CC1-C416-44DF-B401-E044EC2221AA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CE41F-1A7D-47BD-813F-0D16DCB7E05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989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C2CC1-C416-44DF-B401-E044EC2221AA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CE41F-1A7D-47BD-813F-0D16DCB7E05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383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C2CC1-C416-44DF-B401-E044EC2221AA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CE41F-1A7D-47BD-813F-0D16DCB7E05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809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C2CC1-C416-44DF-B401-E044EC2221AA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CE41F-1A7D-47BD-813F-0D16DCB7E05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628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DC2CC1-C416-44DF-B401-E044EC2221AA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ACE41F-1A7D-47BD-813F-0D16DCB7E05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237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978" y="909346"/>
            <a:ext cx="5722107" cy="3326806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235" y="717628"/>
            <a:ext cx="5330483" cy="3899342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6709719" y="3717561"/>
            <a:ext cx="4843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dirty="0"/>
              <a:t> </a:t>
            </a:r>
            <a:endParaRPr lang="en-US" dirty="0"/>
          </a:p>
        </p:txBody>
      </p:sp>
      <p:sp>
        <p:nvSpPr>
          <p:cNvPr id="10" name="CuadroTexto 9"/>
          <p:cNvSpPr txBox="1"/>
          <p:nvPr/>
        </p:nvSpPr>
        <p:spPr>
          <a:xfrm>
            <a:off x="849086" y="2188029"/>
            <a:ext cx="4637315" cy="76944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latin typeface="Georgia" panose="02040502050405020303" pitchFamily="18" charset="0"/>
              </a:rPr>
              <a:t>1. Un </a:t>
            </a:r>
            <a:r>
              <a:rPr lang="en-US" sz="1400" b="1" dirty="0" err="1">
                <a:latin typeface="Georgia" panose="02040502050405020303" pitchFamily="18" charset="0"/>
              </a:rPr>
              <a:t>jugador</a:t>
            </a:r>
            <a:r>
              <a:rPr lang="en-US" sz="1400" b="1" dirty="0">
                <a:latin typeface="Georgia" panose="02040502050405020303" pitchFamily="18" charset="0"/>
              </a:rPr>
              <a:t> </a:t>
            </a:r>
            <a:r>
              <a:rPr lang="en-US" sz="1400" b="1" dirty="0" err="1">
                <a:latin typeface="Georgia" panose="02040502050405020303" pitchFamily="18" charset="0"/>
              </a:rPr>
              <a:t>gana</a:t>
            </a:r>
            <a:r>
              <a:rPr lang="en-US" sz="1400" b="1" dirty="0">
                <a:latin typeface="Georgia" panose="02040502050405020303" pitchFamily="18" charset="0"/>
              </a:rPr>
              <a:t> 250 </a:t>
            </a:r>
            <a:r>
              <a:rPr lang="en-US" sz="1400" b="1" dirty="0" err="1">
                <a:latin typeface="Georgia" panose="02040502050405020303" pitchFamily="18" charset="0"/>
              </a:rPr>
              <a:t>puntos</a:t>
            </a:r>
            <a:r>
              <a:rPr lang="en-US" sz="1400" b="1" dirty="0">
                <a:latin typeface="Georgia" panose="02040502050405020303" pitchFamily="18" charset="0"/>
              </a:rPr>
              <a:t> y </a:t>
            </a:r>
            <a:r>
              <a:rPr lang="en-US" sz="1400" b="1" dirty="0" err="1">
                <a:latin typeface="Georgia" panose="02040502050405020303" pitchFamily="18" charset="0"/>
              </a:rPr>
              <a:t>luego</a:t>
            </a:r>
            <a:r>
              <a:rPr lang="en-US" sz="1400" b="1" dirty="0">
                <a:latin typeface="Georgia" panose="02040502050405020303" pitchFamily="18" charset="0"/>
              </a:rPr>
              <a:t> </a:t>
            </a:r>
            <a:r>
              <a:rPr lang="en-US" sz="1400" b="1" dirty="0" err="1">
                <a:latin typeface="Georgia" panose="02040502050405020303" pitchFamily="18" charset="0"/>
              </a:rPr>
              <a:t>recibe</a:t>
            </a:r>
            <a:r>
              <a:rPr lang="en-US" sz="1400" b="1" dirty="0">
                <a:latin typeface="Georgia" panose="02040502050405020303" pitchFamily="18" charset="0"/>
              </a:rPr>
              <a:t> 175 </a:t>
            </a:r>
            <a:r>
              <a:rPr lang="en-US" sz="1400" b="1" dirty="0" err="1">
                <a:latin typeface="Georgia" panose="02040502050405020303" pitchFamily="18" charset="0"/>
              </a:rPr>
              <a:t>más</a:t>
            </a:r>
            <a:r>
              <a:rPr lang="en-US" sz="1400" b="1" dirty="0">
                <a:latin typeface="Georgia" panose="02040502050405020303" pitchFamily="18" charset="0"/>
              </a:rPr>
              <a:t>. ¿</a:t>
            </a:r>
            <a:r>
              <a:rPr lang="en-US" sz="1400" b="1" dirty="0" err="1">
                <a:latin typeface="Georgia" panose="02040502050405020303" pitchFamily="18" charset="0"/>
              </a:rPr>
              <a:t>Cuántos</a:t>
            </a:r>
            <a:r>
              <a:rPr lang="en-US" sz="1400" b="1" dirty="0">
                <a:latin typeface="Georgia" panose="02040502050405020303" pitchFamily="18" charset="0"/>
              </a:rPr>
              <a:t> </a:t>
            </a:r>
            <a:r>
              <a:rPr lang="en-US" sz="1400" b="1" dirty="0" err="1">
                <a:latin typeface="Georgia" panose="02040502050405020303" pitchFamily="18" charset="0"/>
              </a:rPr>
              <a:t>puntos</a:t>
            </a:r>
            <a:r>
              <a:rPr lang="en-US" sz="1400" b="1" dirty="0">
                <a:latin typeface="Georgia" panose="02040502050405020303" pitchFamily="18" charset="0"/>
              </a:rPr>
              <a:t> </a:t>
            </a:r>
            <a:r>
              <a:rPr lang="en-US" sz="1400" b="1" dirty="0" err="1">
                <a:latin typeface="Georgia" panose="02040502050405020303" pitchFamily="18" charset="0"/>
              </a:rPr>
              <a:t>tiene</a:t>
            </a:r>
            <a:r>
              <a:rPr lang="en-US" sz="1400" b="1" dirty="0">
                <a:latin typeface="Georgia" panose="02040502050405020303" pitchFamily="18" charset="0"/>
              </a:rPr>
              <a:t> en total?</a:t>
            </a:r>
            <a:br>
              <a:rPr lang="en-US" sz="1600" b="1" dirty="0">
                <a:latin typeface="Georgia" panose="02040502050405020303" pitchFamily="18" charset="0"/>
              </a:rPr>
            </a:br>
            <a:endParaRPr lang="en-US" sz="1600" b="1" dirty="0">
              <a:latin typeface="Georgia" panose="02040502050405020303" pitchFamily="18" charset="0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849087" y="3332840"/>
            <a:ext cx="4637315" cy="33855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 err="1"/>
              <a:t>Respuesta</a:t>
            </a:r>
            <a:r>
              <a:rPr lang="en-US" sz="1600" dirty="0"/>
              <a:t>: 425</a:t>
            </a:r>
            <a:endParaRPr lang="en-US" sz="1600" b="1" dirty="0">
              <a:latin typeface="Georgia" panose="02040502050405020303" pitchFamily="18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6709719" y="1864863"/>
            <a:ext cx="4843849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1. </a:t>
            </a:r>
            <a:r>
              <a:rPr lang="en-US" dirty="0" err="1"/>
              <a:t>Calle</a:t>
            </a:r>
            <a:r>
              <a:rPr lang="en-US" dirty="0"/>
              <a:t> de </a:t>
            </a:r>
            <a:r>
              <a:rPr lang="en-US" dirty="0" err="1"/>
              <a:t>las</a:t>
            </a:r>
            <a:r>
              <a:rPr lang="en-US" dirty="0"/>
              <a:t> </a:t>
            </a:r>
            <a:r>
              <a:rPr lang="en-US" dirty="0" err="1"/>
              <a:t>Fracciones</a:t>
            </a:r>
            <a:br>
              <a:rPr lang="en-US" dirty="0"/>
            </a:br>
            <a:endParaRPr lang="en-US" dirty="0"/>
          </a:p>
        </p:txBody>
      </p:sp>
      <p:sp>
        <p:nvSpPr>
          <p:cNvPr id="13" name="CuadroTexto 12"/>
          <p:cNvSpPr txBox="1"/>
          <p:nvPr/>
        </p:nvSpPr>
        <p:spPr>
          <a:xfrm>
            <a:off x="6762002" y="2745008"/>
            <a:ext cx="4843849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Operación</a:t>
            </a:r>
            <a:r>
              <a:rPr lang="en-US" dirty="0"/>
              <a:t>: (150 × 4) + 300 - 200</a:t>
            </a:r>
            <a:br>
              <a:rPr lang="en-US" dirty="0"/>
            </a:br>
            <a:endParaRPr lang="en-US" dirty="0"/>
          </a:p>
        </p:txBody>
      </p:sp>
      <p:sp>
        <p:nvSpPr>
          <p:cNvPr id="14" name="CuadroTexto 13"/>
          <p:cNvSpPr txBox="1"/>
          <p:nvPr/>
        </p:nvSpPr>
        <p:spPr>
          <a:xfrm>
            <a:off x="6709719" y="3723674"/>
            <a:ext cx="4843849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Valor: 700 </a:t>
            </a:r>
            <a:r>
              <a:rPr lang="en-US" dirty="0" err="1"/>
              <a:t>monedas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9132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978" y="909346"/>
            <a:ext cx="5722107" cy="3326806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235" y="717628"/>
            <a:ext cx="5330483" cy="3899342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6709719" y="3717561"/>
            <a:ext cx="4843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dirty="0"/>
              <a:t> </a:t>
            </a:r>
            <a:endParaRPr lang="en-US" dirty="0"/>
          </a:p>
        </p:txBody>
      </p:sp>
      <p:sp>
        <p:nvSpPr>
          <p:cNvPr id="10" name="CuadroTexto 9"/>
          <p:cNvSpPr txBox="1"/>
          <p:nvPr/>
        </p:nvSpPr>
        <p:spPr>
          <a:xfrm>
            <a:off x="849086" y="2188029"/>
            <a:ext cx="4637315" cy="55399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/>
              <a:t>2. </a:t>
            </a:r>
            <a:r>
              <a:rPr lang="en-US" sz="1400" dirty="0" err="1"/>
              <a:t>Una</a:t>
            </a:r>
            <a:r>
              <a:rPr lang="en-US" sz="1400" dirty="0"/>
              <a:t> </a:t>
            </a:r>
            <a:r>
              <a:rPr lang="en-US" sz="1400" dirty="0" err="1"/>
              <a:t>propiedad</a:t>
            </a:r>
            <a:r>
              <a:rPr lang="en-US" sz="1400" dirty="0"/>
              <a:t> cuesta 900 </a:t>
            </a:r>
            <a:r>
              <a:rPr lang="en-US" sz="1400" dirty="0" err="1"/>
              <a:t>monedas</a:t>
            </a:r>
            <a:r>
              <a:rPr lang="en-US" sz="1400" dirty="0"/>
              <a:t> y el </a:t>
            </a:r>
            <a:r>
              <a:rPr lang="en-US" sz="1400" dirty="0" err="1"/>
              <a:t>jugador</a:t>
            </a:r>
            <a:r>
              <a:rPr lang="en-US" sz="1400" dirty="0"/>
              <a:t> </a:t>
            </a:r>
            <a:r>
              <a:rPr lang="en-US" sz="1400" dirty="0" err="1"/>
              <a:t>paga</a:t>
            </a:r>
            <a:r>
              <a:rPr lang="en-US" sz="1400" dirty="0"/>
              <a:t> 350. ¿</a:t>
            </a:r>
            <a:r>
              <a:rPr lang="en-US" sz="1400" dirty="0" err="1"/>
              <a:t>Cuánto</a:t>
            </a:r>
            <a:r>
              <a:rPr lang="en-US" sz="1400" dirty="0"/>
              <a:t> </a:t>
            </a:r>
            <a:r>
              <a:rPr lang="en-US" sz="1400" dirty="0" err="1"/>
              <a:t>dinero</a:t>
            </a:r>
            <a:r>
              <a:rPr lang="en-US" sz="1400" dirty="0"/>
              <a:t> le </a:t>
            </a:r>
            <a:r>
              <a:rPr lang="en-US" sz="1400" dirty="0" err="1"/>
              <a:t>queda</a:t>
            </a:r>
            <a:r>
              <a:rPr lang="en-US" sz="1400" dirty="0"/>
              <a:t> </a:t>
            </a:r>
            <a:r>
              <a:rPr lang="en-US" sz="1400" dirty="0" err="1"/>
              <a:t>por</a:t>
            </a:r>
            <a:r>
              <a:rPr lang="en-US" sz="1400" dirty="0"/>
              <a:t> </a:t>
            </a:r>
            <a:r>
              <a:rPr lang="en-US" sz="1400" dirty="0" err="1"/>
              <a:t>pgar</a:t>
            </a:r>
            <a:r>
              <a:rPr lang="en-US" sz="1400" dirty="0"/>
              <a:t> </a:t>
            </a:r>
            <a:r>
              <a:rPr lang="en-US" sz="1600" dirty="0"/>
              <a:t>?</a:t>
            </a:r>
            <a:endParaRPr lang="en-US" sz="1600" b="1" dirty="0">
              <a:latin typeface="Georgia" panose="02040502050405020303" pitchFamily="18" charset="0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849087" y="3332840"/>
            <a:ext cx="4637315" cy="58477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 err="1"/>
              <a:t>Respuesta</a:t>
            </a:r>
            <a:r>
              <a:rPr lang="en-US" sz="1600" dirty="0"/>
              <a:t>: 550</a:t>
            </a:r>
          </a:p>
          <a:p>
            <a:endParaRPr lang="en-US" sz="1600" b="1" dirty="0">
              <a:latin typeface="Georgia" panose="02040502050405020303" pitchFamily="18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6709719" y="1864863"/>
            <a:ext cx="4843849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2. </a:t>
            </a:r>
            <a:r>
              <a:rPr lang="en-US" dirty="0" err="1"/>
              <a:t>Avenida</a:t>
            </a:r>
            <a:r>
              <a:rPr lang="en-US" dirty="0"/>
              <a:t> del </a:t>
            </a:r>
            <a:r>
              <a:rPr lang="en-US" dirty="0" err="1"/>
              <a:t>Álgebra</a:t>
            </a:r>
            <a:br>
              <a:rPr lang="en-US" dirty="0"/>
            </a:br>
            <a:endParaRPr lang="en-US" dirty="0"/>
          </a:p>
        </p:txBody>
      </p:sp>
      <p:sp>
        <p:nvSpPr>
          <p:cNvPr id="13" name="CuadroTexto 12"/>
          <p:cNvSpPr txBox="1"/>
          <p:nvPr/>
        </p:nvSpPr>
        <p:spPr>
          <a:xfrm>
            <a:off x="6762002" y="2745008"/>
            <a:ext cx="4843849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Operación</a:t>
            </a:r>
            <a:r>
              <a:rPr lang="en-US" dirty="0"/>
              <a:t>: 500 + (80 × 5) ÷ 2</a:t>
            </a:r>
            <a:br>
              <a:rPr lang="en-US" dirty="0"/>
            </a:br>
            <a:endParaRPr lang="en-US" dirty="0"/>
          </a:p>
        </p:txBody>
      </p:sp>
      <p:sp>
        <p:nvSpPr>
          <p:cNvPr id="14" name="CuadroTexto 13"/>
          <p:cNvSpPr txBox="1"/>
          <p:nvPr/>
        </p:nvSpPr>
        <p:spPr>
          <a:xfrm>
            <a:off x="6709719" y="3723674"/>
            <a:ext cx="4843849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Valor: 700 </a:t>
            </a:r>
            <a:r>
              <a:rPr lang="en-US" dirty="0" err="1"/>
              <a:t>monedas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4096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978" y="909346"/>
            <a:ext cx="5722107" cy="3326806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235" y="717628"/>
            <a:ext cx="5330483" cy="3899342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6709719" y="3717561"/>
            <a:ext cx="4843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dirty="0"/>
              <a:t> </a:t>
            </a:r>
            <a:endParaRPr lang="en-US" dirty="0"/>
          </a:p>
        </p:txBody>
      </p:sp>
      <p:sp>
        <p:nvSpPr>
          <p:cNvPr id="10" name="CuadroTexto 9"/>
          <p:cNvSpPr txBox="1"/>
          <p:nvPr/>
        </p:nvSpPr>
        <p:spPr>
          <a:xfrm>
            <a:off x="849086" y="2188029"/>
            <a:ext cx="4637315" cy="80021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/>
              <a:t>3. Un </a:t>
            </a:r>
            <a:r>
              <a:rPr lang="en-US" sz="1400" dirty="0" err="1"/>
              <a:t>banco</a:t>
            </a:r>
            <a:r>
              <a:rPr lang="en-US" sz="1400" dirty="0"/>
              <a:t> </a:t>
            </a:r>
            <a:r>
              <a:rPr lang="en-US" sz="1400" dirty="0" err="1"/>
              <a:t>entrega</a:t>
            </a:r>
            <a:r>
              <a:rPr lang="en-US" sz="1400" dirty="0"/>
              <a:t> 45 </a:t>
            </a:r>
            <a:r>
              <a:rPr lang="en-US" sz="1400" dirty="0" err="1"/>
              <a:t>monedas</a:t>
            </a:r>
            <a:r>
              <a:rPr lang="en-US" sz="1400" dirty="0"/>
              <a:t> a </a:t>
            </a:r>
            <a:r>
              <a:rPr lang="en-US" sz="1400" dirty="0" err="1"/>
              <a:t>cada</a:t>
            </a:r>
            <a:r>
              <a:rPr lang="en-US" sz="1400" dirty="0"/>
              <a:t> </a:t>
            </a:r>
            <a:r>
              <a:rPr lang="en-US" sz="1400" dirty="0" err="1"/>
              <a:t>jugador</a:t>
            </a:r>
            <a:r>
              <a:rPr lang="en-US" sz="1400" dirty="0"/>
              <a:t> de un </a:t>
            </a:r>
            <a:r>
              <a:rPr lang="en-US" sz="1400" dirty="0" err="1"/>
              <a:t>equipo</a:t>
            </a:r>
            <a:r>
              <a:rPr lang="en-US" sz="1400" dirty="0"/>
              <a:t> de 6 personas. ¿</a:t>
            </a:r>
            <a:r>
              <a:rPr lang="en-US" sz="1400" dirty="0" err="1"/>
              <a:t>Cuántas</a:t>
            </a:r>
            <a:r>
              <a:rPr lang="en-US" sz="1400" dirty="0"/>
              <a:t> </a:t>
            </a:r>
            <a:r>
              <a:rPr lang="en-US" sz="1600" dirty="0" err="1"/>
              <a:t>monedas</a:t>
            </a:r>
            <a:r>
              <a:rPr lang="en-US" sz="1600" dirty="0"/>
              <a:t> </a:t>
            </a:r>
            <a:r>
              <a:rPr lang="en-US" sz="1600" dirty="0" err="1"/>
              <a:t>entrega</a:t>
            </a:r>
            <a:r>
              <a:rPr lang="en-US" sz="1600" dirty="0"/>
              <a:t> en total?</a:t>
            </a:r>
            <a:endParaRPr lang="en-US" sz="1600" b="1" dirty="0">
              <a:latin typeface="Georgia" panose="02040502050405020303" pitchFamily="18" charset="0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849087" y="3332840"/>
            <a:ext cx="4637315" cy="33855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 err="1"/>
              <a:t>Respuesta</a:t>
            </a:r>
            <a:r>
              <a:rPr lang="en-US" sz="1600" dirty="0"/>
              <a:t>: 270</a:t>
            </a:r>
          </a:p>
        </p:txBody>
      </p:sp>
      <p:sp>
        <p:nvSpPr>
          <p:cNvPr id="12" name="CuadroTexto 11"/>
          <p:cNvSpPr txBox="1"/>
          <p:nvPr/>
        </p:nvSpPr>
        <p:spPr>
          <a:xfrm>
            <a:off x="6709719" y="1864863"/>
            <a:ext cx="4843849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3. Barrio de la </a:t>
            </a:r>
            <a:r>
              <a:rPr lang="en-US" dirty="0" err="1"/>
              <a:t>Geometría</a:t>
            </a:r>
            <a:br>
              <a:rPr lang="en-US" dirty="0"/>
            </a:br>
            <a:endParaRPr lang="en-US" dirty="0"/>
          </a:p>
        </p:txBody>
      </p:sp>
      <p:sp>
        <p:nvSpPr>
          <p:cNvPr id="13" name="CuadroTexto 12"/>
          <p:cNvSpPr txBox="1"/>
          <p:nvPr/>
        </p:nvSpPr>
        <p:spPr>
          <a:xfrm>
            <a:off x="6762002" y="2745008"/>
            <a:ext cx="4843849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Operación</a:t>
            </a:r>
            <a:r>
              <a:rPr lang="en-US" dirty="0"/>
              <a:t>: (250 × 3) - 150 + 100</a:t>
            </a:r>
            <a:br>
              <a:rPr lang="en-US" dirty="0"/>
            </a:br>
            <a:endParaRPr lang="en-US" dirty="0"/>
          </a:p>
        </p:txBody>
      </p:sp>
      <p:sp>
        <p:nvSpPr>
          <p:cNvPr id="14" name="CuadroTexto 13"/>
          <p:cNvSpPr txBox="1"/>
          <p:nvPr/>
        </p:nvSpPr>
        <p:spPr>
          <a:xfrm>
            <a:off x="6709719" y="3723674"/>
            <a:ext cx="4843849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Valor: 700 </a:t>
            </a:r>
            <a:r>
              <a:rPr lang="en-US" dirty="0" err="1"/>
              <a:t>monedas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055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978" y="909346"/>
            <a:ext cx="5722107" cy="3326806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235" y="717628"/>
            <a:ext cx="5330483" cy="3899342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6709719" y="3717561"/>
            <a:ext cx="4843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dirty="0"/>
              <a:t> </a:t>
            </a:r>
            <a:endParaRPr lang="en-US" dirty="0"/>
          </a:p>
        </p:txBody>
      </p:sp>
      <p:sp>
        <p:nvSpPr>
          <p:cNvPr id="10" name="CuadroTexto 9"/>
          <p:cNvSpPr txBox="1"/>
          <p:nvPr/>
        </p:nvSpPr>
        <p:spPr>
          <a:xfrm>
            <a:off x="849086" y="2188029"/>
            <a:ext cx="4637315" cy="76944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/>
              <a:t>4. Un </a:t>
            </a:r>
            <a:r>
              <a:rPr lang="en-US" sz="1400" dirty="0" err="1"/>
              <a:t>jugador</a:t>
            </a:r>
            <a:r>
              <a:rPr lang="en-US" sz="1400" dirty="0"/>
              <a:t> </a:t>
            </a:r>
            <a:r>
              <a:rPr lang="en-US" sz="1400" dirty="0" err="1"/>
              <a:t>tiene</a:t>
            </a:r>
            <a:r>
              <a:rPr lang="en-US" sz="1400" dirty="0"/>
              <a:t> 800 </a:t>
            </a:r>
            <a:r>
              <a:rPr lang="en-US" sz="1400" dirty="0" err="1"/>
              <a:t>monedas</a:t>
            </a:r>
            <a:r>
              <a:rPr lang="en-US" sz="1400" dirty="0"/>
              <a:t> y </a:t>
            </a:r>
            <a:r>
              <a:rPr lang="en-US" sz="1400" dirty="0" err="1"/>
              <a:t>pierde</a:t>
            </a:r>
            <a:r>
              <a:rPr lang="en-US" sz="1400" dirty="0"/>
              <a:t> 275 </a:t>
            </a:r>
            <a:r>
              <a:rPr lang="en-US" sz="1400" dirty="0" err="1"/>
              <a:t>por</a:t>
            </a:r>
            <a:r>
              <a:rPr lang="en-US" sz="1400" dirty="0"/>
              <a:t> </a:t>
            </a:r>
            <a:r>
              <a:rPr lang="en-US" sz="1400" dirty="0" err="1"/>
              <a:t>una</a:t>
            </a:r>
            <a:r>
              <a:rPr lang="en-US" sz="1400" dirty="0"/>
              <a:t> </a:t>
            </a:r>
            <a:r>
              <a:rPr lang="en-US" sz="1400" dirty="0" err="1"/>
              <a:t>penalización</a:t>
            </a:r>
            <a:r>
              <a:rPr lang="en-US" sz="1400" dirty="0"/>
              <a:t>. ¿</a:t>
            </a:r>
            <a:r>
              <a:rPr lang="en-US" sz="1400" dirty="0" err="1"/>
              <a:t>Cuántas</a:t>
            </a:r>
            <a:r>
              <a:rPr lang="en-US" sz="1400" dirty="0"/>
              <a:t> </a:t>
            </a:r>
            <a:r>
              <a:rPr lang="en-US" sz="1400" dirty="0" err="1"/>
              <a:t>monedas</a:t>
            </a:r>
            <a:r>
              <a:rPr lang="en-US" sz="1400" dirty="0"/>
              <a:t> </a:t>
            </a:r>
            <a:r>
              <a:rPr lang="en-US" sz="1400" dirty="0" err="1"/>
              <a:t>conserva</a:t>
            </a:r>
            <a:r>
              <a:rPr lang="en-US" sz="1400" dirty="0"/>
              <a:t>?</a:t>
            </a:r>
            <a:br>
              <a:rPr lang="en-US" sz="1400" dirty="0"/>
            </a:br>
            <a:endParaRPr lang="en-US" sz="1600" b="1" dirty="0">
              <a:latin typeface="Georgia" panose="02040502050405020303" pitchFamily="18" charset="0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849087" y="3332840"/>
            <a:ext cx="4637315" cy="33855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 err="1"/>
              <a:t>Respuesta</a:t>
            </a:r>
            <a:r>
              <a:rPr lang="en-US" sz="1600" dirty="0"/>
              <a:t>: 525</a:t>
            </a:r>
          </a:p>
        </p:txBody>
      </p:sp>
      <p:sp>
        <p:nvSpPr>
          <p:cNvPr id="12" name="CuadroTexto 11"/>
          <p:cNvSpPr txBox="1"/>
          <p:nvPr/>
        </p:nvSpPr>
        <p:spPr>
          <a:xfrm>
            <a:off x="6709719" y="1864863"/>
            <a:ext cx="4843849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4. Ciudad de la </a:t>
            </a:r>
            <a:r>
              <a:rPr lang="en-US" dirty="0" err="1"/>
              <a:t>Estadística</a:t>
            </a:r>
            <a:br>
              <a:rPr lang="en-US" dirty="0"/>
            </a:br>
            <a:endParaRPr lang="en-US" dirty="0"/>
          </a:p>
        </p:txBody>
      </p:sp>
      <p:sp>
        <p:nvSpPr>
          <p:cNvPr id="13" name="CuadroTexto 12"/>
          <p:cNvSpPr txBox="1"/>
          <p:nvPr/>
        </p:nvSpPr>
        <p:spPr>
          <a:xfrm>
            <a:off x="6762002" y="2745008"/>
            <a:ext cx="4843849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Operación</a:t>
            </a:r>
            <a:r>
              <a:rPr lang="en-US" dirty="0"/>
              <a:t>: 900 ÷ 3 + (120 × 4)</a:t>
            </a:r>
            <a:br>
              <a:rPr lang="en-US" dirty="0"/>
            </a:br>
            <a:endParaRPr lang="en-US" dirty="0"/>
          </a:p>
        </p:txBody>
      </p:sp>
      <p:sp>
        <p:nvSpPr>
          <p:cNvPr id="14" name="CuadroTexto 13"/>
          <p:cNvSpPr txBox="1"/>
          <p:nvPr/>
        </p:nvSpPr>
        <p:spPr>
          <a:xfrm>
            <a:off x="6709719" y="3723674"/>
            <a:ext cx="4843849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Valor: 780 </a:t>
            </a:r>
            <a:r>
              <a:rPr lang="en-US" dirty="0" err="1"/>
              <a:t>monedas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0737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978" y="909346"/>
            <a:ext cx="5722107" cy="3326806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235" y="717628"/>
            <a:ext cx="5330483" cy="3899342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6709719" y="3717561"/>
            <a:ext cx="4843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dirty="0"/>
              <a:t> </a:t>
            </a:r>
            <a:endParaRPr lang="en-US" dirty="0"/>
          </a:p>
        </p:txBody>
      </p:sp>
      <p:sp>
        <p:nvSpPr>
          <p:cNvPr id="10" name="CuadroTexto 9"/>
          <p:cNvSpPr txBox="1"/>
          <p:nvPr/>
        </p:nvSpPr>
        <p:spPr>
          <a:xfrm>
            <a:off x="849086" y="2188029"/>
            <a:ext cx="4637315" cy="76944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/>
              <a:t>5. </a:t>
            </a:r>
            <a:r>
              <a:rPr lang="en-US" sz="1400" dirty="0" err="1"/>
              <a:t>Una</a:t>
            </a:r>
            <a:r>
              <a:rPr lang="en-US" sz="1400" dirty="0"/>
              <a:t> ciudad </a:t>
            </a:r>
            <a:r>
              <a:rPr lang="en-US" sz="1400" dirty="0" err="1"/>
              <a:t>matemática</a:t>
            </a:r>
            <a:r>
              <a:rPr lang="en-US" sz="1400" dirty="0"/>
              <a:t> </a:t>
            </a:r>
            <a:r>
              <a:rPr lang="en-US" sz="1400" dirty="0" err="1"/>
              <a:t>tiene</a:t>
            </a:r>
            <a:r>
              <a:rPr lang="en-US" sz="1400" dirty="0"/>
              <a:t> 8 </a:t>
            </a:r>
            <a:r>
              <a:rPr lang="en-US" sz="1400" dirty="0" err="1"/>
              <a:t>calles</a:t>
            </a:r>
            <a:r>
              <a:rPr lang="en-US" sz="1400" dirty="0"/>
              <a:t> y </a:t>
            </a:r>
            <a:r>
              <a:rPr lang="en-US" sz="1400" dirty="0" err="1"/>
              <a:t>cada</a:t>
            </a:r>
            <a:r>
              <a:rPr lang="en-US" sz="1400" dirty="0"/>
              <a:t> </a:t>
            </a:r>
            <a:r>
              <a:rPr lang="en-US" sz="1400" dirty="0" err="1"/>
              <a:t>calle</a:t>
            </a:r>
            <a:r>
              <a:rPr lang="en-US" sz="1400" dirty="0"/>
              <a:t> </a:t>
            </a:r>
            <a:r>
              <a:rPr lang="en-US" sz="1400" dirty="0" err="1"/>
              <a:t>tiene</a:t>
            </a:r>
            <a:r>
              <a:rPr lang="en-US" sz="1400" dirty="0"/>
              <a:t> 35 casas. ¿</a:t>
            </a:r>
            <a:r>
              <a:rPr lang="en-US" sz="1400" dirty="0" err="1"/>
              <a:t>Cuántas</a:t>
            </a:r>
            <a:r>
              <a:rPr lang="en-US" sz="1400" dirty="0"/>
              <a:t> casas hay en total?</a:t>
            </a:r>
            <a:br>
              <a:rPr lang="en-US" sz="1400" dirty="0"/>
            </a:br>
            <a:endParaRPr lang="en-US" sz="1600" b="1" dirty="0">
              <a:latin typeface="Georgia" panose="02040502050405020303" pitchFamily="18" charset="0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849087" y="3332840"/>
            <a:ext cx="4637315" cy="33855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 err="1"/>
              <a:t>Respuesta</a:t>
            </a:r>
            <a:r>
              <a:rPr lang="en-US" sz="1600" dirty="0"/>
              <a:t>: 280</a:t>
            </a:r>
          </a:p>
        </p:txBody>
      </p:sp>
      <p:sp>
        <p:nvSpPr>
          <p:cNvPr id="12" name="CuadroTexto 11"/>
          <p:cNvSpPr txBox="1"/>
          <p:nvPr/>
        </p:nvSpPr>
        <p:spPr>
          <a:xfrm>
            <a:off x="6709719" y="1864863"/>
            <a:ext cx="4843849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5. </a:t>
            </a:r>
            <a:r>
              <a:rPr lang="en-US" dirty="0" err="1"/>
              <a:t>Parque</a:t>
            </a:r>
            <a:r>
              <a:rPr lang="en-US" dirty="0"/>
              <a:t> del </a:t>
            </a:r>
            <a:r>
              <a:rPr lang="en-US" dirty="0" err="1"/>
              <a:t>Cálculo</a:t>
            </a:r>
            <a:r>
              <a:rPr lang="en-US" dirty="0"/>
              <a:t> Mental</a:t>
            </a:r>
            <a:br>
              <a:rPr lang="en-US" dirty="0"/>
            </a:br>
            <a:endParaRPr lang="en-US" dirty="0"/>
          </a:p>
        </p:txBody>
      </p:sp>
      <p:sp>
        <p:nvSpPr>
          <p:cNvPr id="13" name="CuadroTexto 12"/>
          <p:cNvSpPr txBox="1"/>
          <p:nvPr/>
        </p:nvSpPr>
        <p:spPr>
          <a:xfrm>
            <a:off x="6762002" y="2745008"/>
            <a:ext cx="4843849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Operación</a:t>
            </a:r>
            <a:r>
              <a:rPr lang="en-US" dirty="0"/>
              <a:t>: (350 + 150) × 2 - 200</a:t>
            </a:r>
            <a:br>
              <a:rPr lang="en-US" dirty="0"/>
            </a:br>
            <a:endParaRPr lang="en-US" dirty="0"/>
          </a:p>
        </p:txBody>
      </p:sp>
      <p:sp>
        <p:nvSpPr>
          <p:cNvPr id="14" name="CuadroTexto 13"/>
          <p:cNvSpPr txBox="1"/>
          <p:nvPr/>
        </p:nvSpPr>
        <p:spPr>
          <a:xfrm>
            <a:off x="6709719" y="3723674"/>
            <a:ext cx="4843849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Valor: 800 </a:t>
            </a:r>
            <a:r>
              <a:rPr lang="en-US" dirty="0" err="1"/>
              <a:t>monedas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1293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978" y="909346"/>
            <a:ext cx="5722107" cy="3326806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235" y="717628"/>
            <a:ext cx="5330483" cy="3899342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6709719" y="3717561"/>
            <a:ext cx="4843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dirty="0"/>
              <a:t> </a:t>
            </a:r>
            <a:endParaRPr lang="en-US" dirty="0"/>
          </a:p>
        </p:txBody>
      </p:sp>
      <p:sp>
        <p:nvSpPr>
          <p:cNvPr id="10" name="CuadroTexto 9"/>
          <p:cNvSpPr txBox="1"/>
          <p:nvPr/>
        </p:nvSpPr>
        <p:spPr>
          <a:xfrm>
            <a:off x="849086" y="2188029"/>
            <a:ext cx="4637315" cy="76944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/>
              <a:t>6. Un </a:t>
            </a:r>
            <a:r>
              <a:rPr lang="en-US" sz="1400" dirty="0" err="1"/>
              <a:t>jugador</a:t>
            </a:r>
            <a:r>
              <a:rPr lang="en-US" sz="1400" dirty="0"/>
              <a:t> </a:t>
            </a:r>
            <a:r>
              <a:rPr lang="en-US" sz="1400" dirty="0" err="1"/>
              <a:t>recibe</a:t>
            </a:r>
            <a:r>
              <a:rPr lang="en-US" sz="1400" dirty="0"/>
              <a:t> 120 </a:t>
            </a:r>
            <a:r>
              <a:rPr lang="en-US" sz="1400" dirty="0" err="1"/>
              <a:t>monedas</a:t>
            </a:r>
            <a:r>
              <a:rPr lang="en-US" sz="1400" dirty="0"/>
              <a:t> </a:t>
            </a:r>
            <a:r>
              <a:rPr lang="en-US" sz="1400" dirty="0" err="1"/>
              <a:t>por</a:t>
            </a:r>
            <a:r>
              <a:rPr lang="en-US" sz="1400" dirty="0"/>
              <a:t> </a:t>
            </a:r>
            <a:r>
              <a:rPr lang="en-US" sz="1400" dirty="0" err="1"/>
              <a:t>cada</a:t>
            </a:r>
            <a:r>
              <a:rPr lang="en-US" sz="1400" dirty="0"/>
              <a:t> </a:t>
            </a:r>
            <a:r>
              <a:rPr lang="en-US" sz="1400" dirty="0" err="1"/>
              <a:t>reto</a:t>
            </a:r>
            <a:r>
              <a:rPr lang="en-US" sz="1400" dirty="0"/>
              <a:t> </a:t>
            </a:r>
            <a:r>
              <a:rPr lang="en-US" sz="1400" dirty="0" err="1"/>
              <a:t>superado</a:t>
            </a:r>
            <a:r>
              <a:rPr lang="en-US" sz="1400" dirty="0"/>
              <a:t> y </a:t>
            </a:r>
            <a:r>
              <a:rPr lang="en-US" sz="1400" dirty="0" err="1"/>
              <a:t>completa</a:t>
            </a:r>
            <a:r>
              <a:rPr lang="en-US" sz="1400" dirty="0"/>
              <a:t> 5 </a:t>
            </a:r>
            <a:r>
              <a:rPr lang="en-US" sz="1400" dirty="0" err="1"/>
              <a:t>retos</a:t>
            </a:r>
            <a:r>
              <a:rPr lang="en-US" sz="1400" dirty="0"/>
              <a:t>. ¿</a:t>
            </a:r>
            <a:r>
              <a:rPr lang="en-US" sz="1400" dirty="0" err="1"/>
              <a:t>Cuántas</a:t>
            </a:r>
            <a:r>
              <a:rPr lang="en-US" sz="1400" dirty="0"/>
              <a:t> </a:t>
            </a:r>
            <a:r>
              <a:rPr lang="en-US" sz="1400" dirty="0" err="1"/>
              <a:t>monedas</a:t>
            </a:r>
            <a:r>
              <a:rPr lang="en-US" sz="1400" dirty="0"/>
              <a:t> </a:t>
            </a:r>
            <a:r>
              <a:rPr lang="en-US" sz="1400" dirty="0" err="1"/>
              <a:t>gana</a:t>
            </a:r>
            <a:r>
              <a:rPr lang="en-US" sz="1400" dirty="0"/>
              <a:t>?</a:t>
            </a:r>
            <a:br>
              <a:rPr lang="en-US" sz="1400" dirty="0"/>
            </a:br>
            <a:endParaRPr lang="en-US" sz="1600" b="1" dirty="0">
              <a:latin typeface="Georgia" panose="02040502050405020303" pitchFamily="18" charset="0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849087" y="3332840"/>
            <a:ext cx="4637315" cy="33855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 err="1"/>
              <a:t>Respuesta</a:t>
            </a:r>
            <a:r>
              <a:rPr lang="en-US" sz="1600" dirty="0"/>
              <a:t>: 600</a:t>
            </a:r>
          </a:p>
        </p:txBody>
      </p:sp>
      <p:sp>
        <p:nvSpPr>
          <p:cNvPr id="12" name="CuadroTexto 11"/>
          <p:cNvSpPr txBox="1"/>
          <p:nvPr/>
        </p:nvSpPr>
        <p:spPr>
          <a:xfrm>
            <a:off x="6709719" y="1864863"/>
            <a:ext cx="4843849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6. </a:t>
            </a:r>
            <a:r>
              <a:rPr lang="en-US" dirty="0" err="1"/>
              <a:t>Avenida</a:t>
            </a:r>
            <a:r>
              <a:rPr lang="en-US" dirty="0"/>
              <a:t> de los </a:t>
            </a:r>
            <a:r>
              <a:rPr lang="en-US" dirty="0" err="1"/>
              <a:t>Números</a:t>
            </a:r>
            <a:br>
              <a:rPr lang="en-US" dirty="0"/>
            </a:br>
            <a:endParaRPr lang="en-US" dirty="0"/>
          </a:p>
        </p:txBody>
      </p:sp>
      <p:sp>
        <p:nvSpPr>
          <p:cNvPr id="13" name="CuadroTexto 12"/>
          <p:cNvSpPr txBox="1"/>
          <p:nvPr/>
        </p:nvSpPr>
        <p:spPr>
          <a:xfrm>
            <a:off x="6762002" y="2745008"/>
            <a:ext cx="4843849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Operación</a:t>
            </a:r>
            <a:r>
              <a:rPr lang="en-US" dirty="0"/>
              <a:t>: 1000 - (250 ÷ 5) + 300</a:t>
            </a:r>
            <a:br>
              <a:rPr lang="en-US" dirty="0"/>
            </a:br>
            <a:endParaRPr lang="en-US" dirty="0"/>
          </a:p>
        </p:txBody>
      </p:sp>
      <p:sp>
        <p:nvSpPr>
          <p:cNvPr id="14" name="CuadroTexto 13"/>
          <p:cNvSpPr txBox="1"/>
          <p:nvPr/>
        </p:nvSpPr>
        <p:spPr>
          <a:xfrm>
            <a:off x="6709719" y="3723674"/>
            <a:ext cx="4843849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Valor: 1250 </a:t>
            </a:r>
            <a:r>
              <a:rPr lang="en-US" dirty="0" err="1"/>
              <a:t>monedas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32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978" y="909346"/>
            <a:ext cx="5722107" cy="3326806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235" y="717628"/>
            <a:ext cx="5330483" cy="3899342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6709719" y="3717561"/>
            <a:ext cx="4843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dirty="0"/>
              <a:t> </a:t>
            </a:r>
            <a:endParaRPr lang="en-US" dirty="0"/>
          </a:p>
        </p:txBody>
      </p:sp>
      <p:sp>
        <p:nvSpPr>
          <p:cNvPr id="10" name="CuadroTexto 9"/>
          <p:cNvSpPr txBox="1"/>
          <p:nvPr/>
        </p:nvSpPr>
        <p:spPr>
          <a:xfrm>
            <a:off x="849086" y="2188029"/>
            <a:ext cx="4637315" cy="76944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/>
              <a:t>7. Un </a:t>
            </a:r>
            <a:r>
              <a:rPr lang="en-US" sz="1400" dirty="0" err="1"/>
              <a:t>premio</a:t>
            </a:r>
            <a:r>
              <a:rPr lang="en-US" sz="1400" dirty="0"/>
              <a:t> de 960 </a:t>
            </a:r>
            <a:r>
              <a:rPr lang="en-US" sz="1400" dirty="0" err="1"/>
              <a:t>monedas</a:t>
            </a:r>
            <a:r>
              <a:rPr lang="en-US" sz="1400" dirty="0"/>
              <a:t> se </a:t>
            </a:r>
            <a:r>
              <a:rPr lang="en-US" sz="1400" dirty="0" err="1"/>
              <a:t>reparte</a:t>
            </a:r>
            <a:r>
              <a:rPr lang="en-US" sz="1400" dirty="0"/>
              <a:t> entre 8 </a:t>
            </a:r>
            <a:r>
              <a:rPr lang="en-US" sz="1400" dirty="0" err="1"/>
              <a:t>jugadores</a:t>
            </a:r>
            <a:r>
              <a:rPr lang="en-US" sz="1400" dirty="0"/>
              <a:t>. ¿</a:t>
            </a:r>
            <a:r>
              <a:rPr lang="en-US" sz="1400" dirty="0" err="1"/>
              <a:t>Cuánto</a:t>
            </a:r>
            <a:r>
              <a:rPr lang="en-US" sz="1400" dirty="0"/>
              <a:t> </a:t>
            </a:r>
            <a:r>
              <a:rPr lang="en-US" sz="1400" dirty="0" err="1"/>
              <a:t>recibe</a:t>
            </a:r>
            <a:r>
              <a:rPr lang="en-US" sz="1400" dirty="0"/>
              <a:t> </a:t>
            </a:r>
            <a:r>
              <a:rPr lang="en-US" sz="1400" dirty="0" err="1"/>
              <a:t>cada</a:t>
            </a:r>
            <a:r>
              <a:rPr lang="en-US" sz="1400" dirty="0"/>
              <a:t> </a:t>
            </a:r>
            <a:r>
              <a:rPr lang="en-US" sz="1400" dirty="0" err="1"/>
              <a:t>uno</a:t>
            </a:r>
            <a:r>
              <a:rPr lang="en-US" sz="1400" dirty="0"/>
              <a:t>?</a:t>
            </a:r>
            <a:br>
              <a:rPr lang="en-US" sz="1400" dirty="0"/>
            </a:br>
            <a:endParaRPr lang="en-US" sz="1600" b="1" dirty="0">
              <a:latin typeface="Georgia" panose="02040502050405020303" pitchFamily="18" charset="0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849087" y="3332840"/>
            <a:ext cx="4637315" cy="33855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 err="1"/>
              <a:t>Respuesta</a:t>
            </a:r>
            <a:r>
              <a:rPr lang="en-US" sz="1600" dirty="0"/>
              <a:t>: 120</a:t>
            </a:r>
          </a:p>
        </p:txBody>
      </p:sp>
      <p:sp>
        <p:nvSpPr>
          <p:cNvPr id="12" name="CuadroTexto 11"/>
          <p:cNvSpPr txBox="1"/>
          <p:nvPr/>
        </p:nvSpPr>
        <p:spPr>
          <a:xfrm>
            <a:off x="6709719" y="1864863"/>
            <a:ext cx="4843849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7. Distrito de </a:t>
            </a:r>
            <a:r>
              <a:rPr lang="en-US" dirty="0" err="1"/>
              <a:t>las</a:t>
            </a:r>
            <a:r>
              <a:rPr lang="en-US" dirty="0"/>
              <a:t> </a:t>
            </a:r>
            <a:r>
              <a:rPr lang="en-US" dirty="0" err="1"/>
              <a:t>Ecuaciones</a:t>
            </a:r>
            <a:br>
              <a:rPr lang="en-US" dirty="0"/>
            </a:br>
            <a:endParaRPr lang="en-US" dirty="0"/>
          </a:p>
        </p:txBody>
      </p:sp>
      <p:sp>
        <p:nvSpPr>
          <p:cNvPr id="13" name="CuadroTexto 12"/>
          <p:cNvSpPr txBox="1"/>
          <p:nvPr/>
        </p:nvSpPr>
        <p:spPr>
          <a:xfrm>
            <a:off x="6762002" y="2745008"/>
            <a:ext cx="4843849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Operación</a:t>
            </a:r>
            <a:r>
              <a:rPr lang="en-US" dirty="0"/>
              <a:t>: (600 ÷ 2) + (90 × 6)</a:t>
            </a:r>
            <a:br>
              <a:rPr lang="en-US" dirty="0"/>
            </a:br>
            <a:endParaRPr lang="en-US" dirty="0"/>
          </a:p>
        </p:txBody>
      </p:sp>
      <p:sp>
        <p:nvSpPr>
          <p:cNvPr id="14" name="CuadroTexto 13"/>
          <p:cNvSpPr txBox="1"/>
          <p:nvPr/>
        </p:nvSpPr>
        <p:spPr>
          <a:xfrm>
            <a:off x="6709719" y="3723674"/>
            <a:ext cx="4843849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Valor: 840 </a:t>
            </a:r>
            <a:r>
              <a:rPr lang="en-US" dirty="0" err="1"/>
              <a:t>monedas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6844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978" y="909346"/>
            <a:ext cx="5722107" cy="3326806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235" y="717628"/>
            <a:ext cx="5330483" cy="3899342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6709719" y="3717561"/>
            <a:ext cx="4843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dirty="0"/>
              <a:t> </a:t>
            </a:r>
            <a:endParaRPr lang="en-US" dirty="0"/>
          </a:p>
        </p:txBody>
      </p:sp>
      <p:sp>
        <p:nvSpPr>
          <p:cNvPr id="10" name="CuadroTexto 9"/>
          <p:cNvSpPr txBox="1"/>
          <p:nvPr/>
        </p:nvSpPr>
        <p:spPr>
          <a:xfrm>
            <a:off x="849086" y="2188029"/>
            <a:ext cx="4637315" cy="76944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/>
              <a:t>8. </a:t>
            </a:r>
            <a:r>
              <a:rPr lang="en-US" sz="1400" dirty="0" err="1"/>
              <a:t>Una</a:t>
            </a:r>
            <a:r>
              <a:rPr lang="en-US" sz="1400" dirty="0"/>
              <a:t> </a:t>
            </a:r>
            <a:r>
              <a:rPr lang="en-US" sz="1400" dirty="0" err="1"/>
              <a:t>propiedad</a:t>
            </a:r>
            <a:r>
              <a:rPr lang="en-US" sz="1400" dirty="0"/>
              <a:t> vale 1500 </a:t>
            </a:r>
            <a:r>
              <a:rPr lang="en-US" sz="1400" dirty="0" err="1"/>
              <a:t>monedas</a:t>
            </a:r>
            <a:r>
              <a:rPr lang="en-US" sz="1400" dirty="0"/>
              <a:t> y </a:t>
            </a:r>
            <a:r>
              <a:rPr lang="en-US" sz="1400" dirty="0" err="1"/>
              <a:t>tiene</a:t>
            </a:r>
            <a:r>
              <a:rPr lang="en-US" sz="1400" dirty="0"/>
              <a:t> un </a:t>
            </a:r>
            <a:r>
              <a:rPr lang="en-US" sz="1400" dirty="0" err="1"/>
              <a:t>descuento</a:t>
            </a:r>
            <a:r>
              <a:rPr lang="en-US" sz="1400" dirty="0"/>
              <a:t> de 450. ¿</a:t>
            </a:r>
            <a:r>
              <a:rPr lang="en-US" sz="1400" dirty="0" err="1"/>
              <a:t>Cuál</a:t>
            </a:r>
            <a:r>
              <a:rPr lang="en-US" sz="1400" dirty="0"/>
              <a:t> </a:t>
            </a:r>
            <a:r>
              <a:rPr lang="en-US" sz="1400" dirty="0" err="1"/>
              <a:t>es</a:t>
            </a:r>
            <a:r>
              <a:rPr lang="en-US" sz="1400" dirty="0"/>
              <a:t> </a:t>
            </a:r>
            <a:r>
              <a:rPr lang="en-US" sz="1400" dirty="0" err="1"/>
              <a:t>su</a:t>
            </a:r>
            <a:r>
              <a:rPr lang="en-US" sz="1400" dirty="0"/>
              <a:t> </a:t>
            </a:r>
            <a:r>
              <a:rPr lang="en-US" sz="1400" dirty="0" err="1"/>
              <a:t>nuevo</a:t>
            </a:r>
            <a:r>
              <a:rPr lang="en-US" sz="1400" dirty="0"/>
              <a:t> </a:t>
            </a:r>
            <a:r>
              <a:rPr lang="en-US" sz="1400" dirty="0" err="1"/>
              <a:t>precio</a:t>
            </a:r>
            <a:r>
              <a:rPr lang="en-US" sz="1400" dirty="0"/>
              <a:t>?</a:t>
            </a:r>
            <a:br>
              <a:rPr lang="en-US" sz="1400" dirty="0"/>
            </a:br>
            <a:endParaRPr lang="en-US" sz="1600" b="1" dirty="0">
              <a:latin typeface="Georgia" panose="02040502050405020303" pitchFamily="18" charset="0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849087" y="3332840"/>
            <a:ext cx="4637315" cy="33855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 err="1"/>
              <a:t>Respuesta</a:t>
            </a:r>
            <a:r>
              <a:rPr lang="en-US" sz="1600" dirty="0"/>
              <a:t>: 1050</a:t>
            </a:r>
          </a:p>
        </p:txBody>
      </p:sp>
      <p:sp>
        <p:nvSpPr>
          <p:cNvPr id="12" name="CuadroTexto 11"/>
          <p:cNvSpPr txBox="1"/>
          <p:nvPr/>
        </p:nvSpPr>
        <p:spPr>
          <a:xfrm>
            <a:off x="6709719" y="1864863"/>
            <a:ext cx="4843849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8. </a:t>
            </a:r>
            <a:r>
              <a:rPr lang="en-US" dirty="0" err="1"/>
              <a:t>Zona</a:t>
            </a:r>
            <a:r>
              <a:rPr lang="en-US" dirty="0"/>
              <a:t> de los </a:t>
            </a:r>
            <a:r>
              <a:rPr lang="en-US" dirty="0" err="1"/>
              <a:t>Problemas</a:t>
            </a:r>
            <a:r>
              <a:rPr lang="en-US" dirty="0"/>
              <a:t> </a:t>
            </a:r>
            <a:r>
              <a:rPr lang="en-US" dirty="0" err="1"/>
              <a:t>Matemáticos</a:t>
            </a:r>
            <a:br>
              <a:rPr lang="en-US" dirty="0"/>
            </a:br>
            <a:endParaRPr lang="en-US" dirty="0"/>
          </a:p>
        </p:txBody>
      </p:sp>
      <p:sp>
        <p:nvSpPr>
          <p:cNvPr id="13" name="CuadroTexto 12"/>
          <p:cNvSpPr txBox="1"/>
          <p:nvPr/>
        </p:nvSpPr>
        <p:spPr>
          <a:xfrm>
            <a:off x="6762002" y="2745008"/>
            <a:ext cx="4843849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Operación</a:t>
            </a:r>
            <a:r>
              <a:rPr lang="en-US" dirty="0"/>
              <a:t>: (700 + 500) ÷ 4 × 3</a:t>
            </a:r>
            <a:br>
              <a:rPr lang="en-US" dirty="0"/>
            </a:br>
            <a:endParaRPr lang="en-US" dirty="0"/>
          </a:p>
        </p:txBody>
      </p:sp>
      <p:sp>
        <p:nvSpPr>
          <p:cNvPr id="14" name="CuadroTexto 13"/>
          <p:cNvSpPr txBox="1"/>
          <p:nvPr/>
        </p:nvSpPr>
        <p:spPr>
          <a:xfrm>
            <a:off x="6709719" y="3723674"/>
            <a:ext cx="4843849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Valor: 900 </a:t>
            </a:r>
            <a:r>
              <a:rPr lang="en-US" dirty="0" err="1"/>
              <a:t>monedas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2822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978" y="909346"/>
            <a:ext cx="5722107" cy="3326806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235" y="717628"/>
            <a:ext cx="5330483" cy="3899342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6709719" y="3717561"/>
            <a:ext cx="4843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dirty="0"/>
              <a:t> </a:t>
            </a:r>
            <a:endParaRPr lang="en-US" dirty="0"/>
          </a:p>
        </p:txBody>
      </p:sp>
      <p:sp>
        <p:nvSpPr>
          <p:cNvPr id="10" name="CuadroTexto 9"/>
          <p:cNvSpPr txBox="1"/>
          <p:nvPr/>
        </p:nvSpPr>
        <p:spPr>
          <a:xfrm>
            <a:off x="849086" y="2188029"/>
            <a:ext cx="4637315" cy="76944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/>
              <a:t>9. Un </a:t>
            </a:r>
            <a:r>
              <a:rPr lang="en-US" sz="1400" dirty="0" err="1"/>
              <a:t>jugador</a:t>
            </a:r>
            <a:r>
              <a:rPr lang="en-US" sz="1400" dirty="0"/>
              <a:t> </a:t>
            </a:r>
            <a:r>
              <a:rPr lang="en-US" sz="1400" dirty="0" err="1"/>
              <a:t>compra</a:t>
            </a:r>
            <a:r>
              <a:rPr lang="en-US" sz="1400" dirty="0"/>
              <a:t> 7 </a:t>
            </a:r>
            <a:r>
              <a:rPr lang="en-US" sz="1400" dirty="0" err="1"/>
              <a:t>tarjetas</a:t>
            </a:r>
            <a:r>
              <a:rPr lang="en-US" sz="1400" dirty="0"/>
              <a:t> </a:t>
            </a:r>
            <a:r>
              <a:rPr lang="en-US" sz="1400" dirty="0" err="1"/>
              <a:t>matemáticas</a:t>
            </a:r>
            <a:r>
              <a:rPr lang="en-US" sz="1400" dirty="0"/>
              <a:t> a 85 </a:t>
            </a:r>
            <a:r>
              <a:rPr lang="en-US" sz="1400" dirty="0" err="1"/>
              <a:t>monedas</a:t>
            </a:r>
            <a:r>
              <a:rPr lang="en-US" sz="1400" dirty="0"/>
              <a:t> </a:t>
            </a:r>
            <a:r>
              <a:rPr lang="en-US" sz="1400" dirty="0" err="1"/>
              <a:t>cada</a:t>
            </a:r>
            <a:r>
              <a:rPr lang="en-US" sz="1400" dirty="0"/>
              <a:t> </a:t>
            </a:r>
            <a:r>
              <a:rPr lang="en-US" sz="1400" dirty="0" err="1"/>
              <a:t>una</a:t>
            </a:r>
            <a:r>
              <a:rPr lang="en-US" sz="1400" dirty="0"/>
              <a:t>. ¿</a:t>
            </a:r>
            <a:r>
              <a:rPr lang="en-US" sz="1400" dirty="0" err="1"/>
              <a:t>Cuánto</a:t>
            </a:r>
            <a:r>
              <a:rPr lang="en-US" sz="1400" dirty="0"/>
              <a:t> </a:t>
            </a:r>
            <a:r>
              <a:rPr lang="en-US" sz="1400" dirty="0" err="1"/>
              <a:t>paga</a:t>
            </a:r>
            <a:r>
              <a:rPr lang="en-US" sz="1400" dirty="0"/>
              <a:t> en total?</a:t>
            </a:r>
            <a:br>
              <a:rPr lang="en-US" sz="1400" dirty="0"/>
            </a:br>
            <a:endParaRPr lang="en-US" sz="1600" b="1" dirty="0">
              <a:latin typeface="Georgia" panose="02040502050405020303" pitchFamily="18" charset="0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849087" y="3332840"/>
            <a:ext cx="4637315" cy="33855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 err="1"/>
              <a:t>Respuesta</a:t>
            </a:r>
            <a:r>
              <a:rPr lang="en-US" sz="1600" dirty="0"/>
              <a:t>: 595</a:t>
            </a:r>
          </a:p>
        </p:txBody>
      </p:sp>
      <p:sp>
        <p:nvSpPr>
          <p:cNvPr id="12" name="CuadroTexto 11"/>
          <p:cNvSpPr txBox="1"/>
          <p:nvPr/>
        </p:nvSpPr>
        <p:spPr>
          <a:xfrm>
            <a:off x="6709719" y="1864863"/>
            <a:ext cx="4843849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9. Plaza de </a:t>
            </a:r>
            <a:r>
              <a:rPr lang="en-US" dirty="0" err="1"/>
              <a:t>las</a:t>
            </a:r>
            <a:r>
              <a:rPr lang="en-US" dirty="0"/>
              <a:t> </a:t>
            </a:r>
            <a:r>
              <a:rPr lang="en-US" dirty="0" err="1"/>
              <a:t>Operaciones</a:t>
            </a:r>
            <a:br>
              <a:rPr lang="en-US" dirty="0"/>
            </a:br>
            <a:endParaRPr lang="en-US" dirty="0"/>
          </a:p>
        </p:txBody>
      </p:sp>
      <p:sp>
        <p:nvSpPr>
          <p:cNvPr id="13" name="CuadroTexto 12"/>
          <p:cNvSpPr txBox="1"/>
          <p:nvPr/>
        </p:nvSpPr>
        <p:spPr>
          <a:xfrm>
            <a:off x="6762002" y="2745008"/>
            <a:ext cx="4843849" cy="58477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 err="1"/>
              <a:t>Operación</a:t>
            </a:r>
            <a:r>
              <a:rPr lang="en-US" sz="1600" dirty="0"/>
              <a:t>: (450 × 2) - (300 ÷ 3)</a:t>
            </a:r>
            <a:br>
              <a:rPr lang="en-US" sz="1600" dirty="0"/>
            </a:br>
            <a:endParaRPr lang="en-US" sz="16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14" name="CuadroTexto 13"/>
          <p:cNvSpPr txBox="1"/>
          <p:nvPr/>
        </p:nvSpPr>
        <p:spPr>
          <a:xfrm>
            <a:off x="6709719" y="3723674"/>
            <a:ext cx="4843849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Valor: 800 </a:t>
            </a:r>
            <a:r>
              <a:rPr lang="en-US" dirty="0" err="1"/>
              <a:t>monedas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086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978" y="909346"/>
            <a:ext cx="5722107" cy="3326806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235" y="717628"/>
            <a:ext cx="5330483" cy="3899342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6709719" y="3717561"/>
            <a:ext cx="4843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dirty="0"/>
              <a:t> </a:t>
            </a:r>
            <a:endParaRPr lang="en-US" dirty="0"/>
          </a:p>
        </p:txBody>
      </p:sp>
      <p:sp>
        <p:nvSpPr>
          <p:cNvPr id="10" name="CuadroTexto 9"/>
          <p:cNvSpPr txBox="1"/>
          <p:nvPr/>
        </p:nvSpPr>
        <p:spPr>
          <a:xfrm>
            <a:off x="849086" y="2188029"/>
            <a:ext cx="4637315" cy="76944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/>
              <a:t>10. El </a:t>
            </a:r>
            <a:r>
              <a:rPr lang="en-US" sz="1400" dirty="0" err="1"/>
              <a:t>banco</a:t>
            </a:r>
            <a:r>
              <a:rPr lang="en-US" sz="1400" dirty="0"/>
              <a:t> </a:t>
            </a:r>
            <a:r>
              <a:rPr lang="en-US" sz="1400" dirty="0" err="1"/>
              <a:t>tiene</a:t>
            </a:r>
            <a:r>
              <a:rPr lang="en-US" sz="1400" dirty="0"/>
              <a:t> 2000 </a:t>
            </a:r>
            <a:r>
              <a:rPr lang="en-US" sz="1400" dirty="0" err="1"/>
              <a:t>monedas</a:t>
            </a:r>
            <a:r>
              <a:rPr lang="en-US" sz="1400" dirty="0"/>
              <a:t> y </a:t>
            </a:r>
            <a:r>
              <a:rPr lang="en-US" sz="1400" dirty="0" err="1"/>
              <a:t>entrega</a:t>
            </a:r>
            <a:r>
              <a:rPr lang="en-US" sz="1400" dirty="0"/>
              <a:t> 725 a los </a:t>
            </a:r>
            <a:r>
              <a:rPr lang="en-US" sz="1400" dirty="0" err="1"/>
              <a:t>jugadores</a:t>
            </a:r>
            <a:r>
              <a:rPr lang="en-US" sz="1400" dirty="0"/>
              <a:t>. ¿</a:t>
            </a:r>
            <a:r>
              <a:rPr lang="en-US" sz="1400" dirty="0" err="1"/>
              <a:t>Cuántas</a:t>
            </a:r>
            <a:r>
              <a:rPr lang="en-US" sz="1400" dirty="0"/>
              <a:t> </a:t>
            </a:r>
            <a:r>
              <a:rPr lang="en-US" sz="1400" dirty="0" err="1"/>
              <a:t>monedas</a:t>
            </a:r>
            <a:r>
              <a:rPr lang="en-US" sz="1400" dirty="0"/>
              <a:t> </a:t>
            </a:r>
            <a:r>
              <a:rPr lang="en-US" sz="1400" dirty="0" err="1"/>
              <a:t>quedan</a:t>
            </a:r>
            <a:r>
              <a:rPr lang="en-US" sz="1400" dirty="0"/>
              <a:t>?</a:t>
            </a:r>
            <a:br>
              <a:rPr lang="en-US" sz="1400" dirty="0"/>
            </a:br>
            <a:endParaRPr lang="en-US" sz="1600" b="1" dirty="0">
              <a:latin typeface="Georgia" panose="02040502050405020303" pitchFamily="18" charset="0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849087" y="3332840"/>
            <a:ext cx="4637315" cy="33855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 err="1"/>
              <a:t>Respuesta</a:t>
            </a:r>
            <a:r>
              <a:rPr lang="en-US" sz="1600" dirty="0"/>
              <a:t>: 1275</a:t>
            </a:r>
          </a:p>
        </p:txBody>
      </p:sp>
      <p:sp>
        <p:nvSpPr>
          <p:cNvPr id="12" name="CuadroTexto 11"/>
          <p:cNvSpPr txBox="1"/>
          <p:nvPr/>
        </p:nvSpPr>
        <p:spPr>
          <a:xfrm>
            <a:off x="6709719" y="1864863"/>
            <a:ext cx="4843849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10. </a:t>
            </a:r>
            <a:r>
              <a:rPr lang="en-US" dirty="0" err="1"/>
              <a:t>Reino</a:t>
            </a:r>
            <a:r>
              <a:rPr lang="en-US" dirty="0"/>
              <a:t> de la </a:t>
            </a:r>
            <a:r>
              <a:rPr lang="en-US" dirty="0" err="1"/>
              <a:t>Multiplicación</a:t>
            </a:r>
            <a:br>
              <a:rPr lang="en-US" dirty="0"/>
            </a:br>
            <a:endParaRPr lang="en-US" dirty="0"/>
          </a:p>
        </p:txBody>
      </p:sp>
      <p:sp>
        <p:nvSpPr>
          <p:cNvPr id="13" name="CuadroTexto 12"/>
          <p:cNvSpPr txBox="1"/>
          <p:nvPr/>
        </p:nvSpPr>
        <p:spPr>
          <a:xfrm>
            <a:off x="6762002" y="2745008"/>
            <a:ext cx="4843849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Operación</a:t>
            </a:r>
            <a:r>
              <a:rPr lang="en-US" dirty="0"/>
              <a:t>: (200 × 8) + 600 ÷ 2</a:t>
            </a:r>
            <a:br>
              <a:rPr lang="en-US" dirty="0"/>
            </a:br>
            <a:endParaRPr lang="en-US" dirty="0"/>
          </a:p>
        </p:txBody>
      </p:sp>
      <p:sp>
        <p:nvSpPr>
          <p:cNvPr id="14" name="CuadroTexto 13"/>
          <p:cNvSpPr txBox="1"/>
          <p:nvPr/>
        </p:nvSpPr>
        <p:spPr>
          <a:xfrm>
            <a:off x="6709719" y="3723674"/>
            <a:ext cx="4843849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Valor: 1900 </a:t>
            </a:r>
            <a:r>
              <a:rPr lang="en-US" dirty="0" err="1"/>
              <a:t>monedas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0899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978" y="909346"/>
            <a:ext cx="5722107" cy="3326806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235" y="717628"/>
            <a:ext cx="5330483" cy="3899342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6709719" y="3717561"/>
            <a:ext cx="4843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dirty="0"/>
              <a:t> </a:t>
            </a:r>
            <a:endParaRPr lang="en-US" dirty="0"/>
          </a:p>
        </p:txBody>
      </p:sp>
      <p:sp>
        <p:nvSpPr>
          <p:cNvPr id="10" name="CuadroTexto 9"/>
          <p:cNvSpPr txBox="1"/>
          <p:nvPr/>
        </p:nvSpPr>
        <p:spPr>
          <a:xfrm>
            <a:off x="849086" y="2188029"/>
            <a:ext cx="4637315" cy="98488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/>
              <a:t>11. Un </a:t>
            </a:r>
            <a:r>
              <a:rPr lang="en-US" sz="1400" dirty="0" err="1"/>
              <a:t>jugador</a:t>
            </a:r>
            <a:r>
              <a:rPr lang="en-US" sz="1400" dirty="0"/>
              <a:t> </a:t>
            </a:r>
            <a:r>
              <a:rPr lang="en-US" sz="1400" dirty="0" err="1"/>
              <a:t>gana</a:t>
            </a:r>
            <a:r>
              <a:rPr lang="en-US" sz="1400" dirty="0"/>
              <a:t> 4 </a:t>
            </a:r>
            <a:r>
              <a:rPr lang="en-US" sz="1400" dirty="0" err="1"/>
              <a:t>partidas</a:t>
            </a:r>
            <a:r>
              <a:rPr lang="en-US" sz="1400" dirty="0"/>
              <a:t> y en </a:t>
            </a:r>
            <a:r>
              <a:rPr lang="en-US" sz="1400" dirty="0" err="1"/>
              <a:t>cada</a:t>
            </a:r>
            <a:r>
              <a:rPr lang="en-US" sz="1400" dirty="0"/>
              <a:t> </a:t>
            </a:r>
            <a:r>
              <a:rPr lang="en-US" sz="1400" dirty="0" err="1"/>
              <a:t>una</a:t>
            </a:r>
            <a:r>
              <a:rPr lang="en-US" sz="1400" dirty="0"/>
              <a:t> </a:t>
            </a:r>
            <a:r>
              <a:rPr lang="en-US" sz="1400" dirty="0" err="1"/>
              <a:t>recibe</a:t>
            </a:r>
            <a:r>
              <a:rPr lang="en-US" sz="1400" dirty="0"/>
              <a:t> 150 </a:t>
            </a:r>
            <a:r>
              <a:rPr lang="en-US" sz="1400" dirty="0" err="1"/>
              <a:t>monedas</a:t>
            </a:r>
            <a:r>
              <a:rPr lang="en-US" sz="1400" dirty="0"/>
              <a:t>. ¿</a:t>
            </a:r>
            <a:r>
              <a:rPr lang="en-US" sz="1400" dirty="0" err="1"/>
              <a:t>Cuánto</a:t>
            </a:r>
            <a:r>
              <a:rPr lang="en-US" sz="1400" dirty="0"/>
              <a:t> </a:t>
            </a:r>
            <a:r>
              <a:rPr lang="en-US" sz="1400" dirty="0" err="1"/>
              <a:t>gana</a:t>
            </a:r>
            <a:r>
              <a:rPr lang="en-US" sz="1400" dirty="0"/>
              <a:t> en total?</a:t>
            </a:r>
            <a:br>
              <a:rPr lang="en-US" sz="1400" dirty="0"/>
            </a:br>
            <a:br>
              <a:rPr lang="en-US" sz="1400" dirty="0"/>
            </a:br>
            <a:endParaRPr lang="en-US" sz="1600" b="1" dirty="0">
              <a:latin typeface="Georgia" panose="02040502050405020303" pitchFamily="18" charset="0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849087" y="3332840"/>
            <a:ext cx="4637315" cy="33855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 err="1"/>
              <a:t>Respuesta</a:t>
            </a:r>
            <a:r>
              <a:rPr lang="en-US" sz="1600" dirty="0"/>
              <a:t>: 600</a:t>
            </a:r>
          </a:p>
        </p:txBody>
      </p:sp>
      <p:sp>
        <p:nvSpPr>
          <p:cNvPr id="12" name="CuadroTexto 11"/>
          <p:cNvSpPr txBox="1"/>
          <p:nvPr/>
        </p:nvSpPr>
        <p:spPr>
          <a:xfrm>
            <a:off x="6709719" y="1864863"/>
            <a:ext cx="4843849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11. </a:t>
            </a:r>
            <a:r>
              <a:rPr lang="en-US" dirty="0" err="1"/>
              <a:t>Avenida</a:t>
            </a:r>
            <a:r>
              <a:rPr lang="en-US" dirty="0"/>
              <a:t> de la </a:t>
            </a:r>
            <a:r>
              <a:rPr lang="en-US" dirty="0" err="1"/>
              <a:t>División</a:t>
            </a:r>
            <a:br>
              <a:rPr lang="en-US" dirty="0"/>
            </a:br>
            <a:endParaRPr lang="en-US" dirty="0"/>
          </a:p>
        </p:txBody>
      </p:sp>
      <p:sp>
        <p:nvSpPr>
          <p:cNvPr id="13" name="CuadroTexto 12"/>
          <p:cNvSpPr txBox="1"/>
          <p:nvPr/>
        </p:nvSpPr>
        <p:spPr>
          <a:xfrm>
            <a:off x="6762002" y="2745008"/>
            <a:ext cx="4843849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Operación</a:t>
            </a:r>
            <a:r>
              <a:rPr lang="en-US" dirty="0"/>
              <a:t>: (1200 ÷ 4) + (250 × 3)</a:t>
            </a:r>
            <a:br>
              <a:rPr lang="en-US" dirty="0"/>
            </a:br>
            <a:endParaRPr lang="en-US" dirty="0"/>
          </a:p>
        </p:txBody>
      </p:sp>
      <p:sp>
        <p:nvSpPr>
          <p:cNvPr id="14" name="CuadroTexto 13"/>
          <p:cNvSpPr txBox="1"/>
          <p:nvPr/>
        </p:nvSpPr>
        <p:spPr>
          <a:xfrm>
            <a:off x="6709719" y="3723674"/>
            <a:ext cx="4843849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Valor: 1050 </a:t>
            </a:r>
            <a:r>
              <a:rPr lang="en-US" dirty="0" err="1"/>
              <a:t>monedas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6512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978" y="909346"/>
            <a:ext cx="5722107" cy="3326806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235" y="717628"/>
            <a:ext cx="5330483" cy="3899342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6709719" y="3717561"/>
            <a:ext cx="4843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dirty="0"/>
              <a:t> </a:t>
            </a:r>
            <a:endParaRPr lang="en-US" dirty="0"/>
          </a:p>
        </p:txBody>
      </p:sp>
      <p:sp>
        <p:nvSpPr>
          <p:cNvPr id="10" name="CuadroTexto 9"/>
          <p:cNvSpPr txBox="1"/>
          <p:nvPr/>
        </p:nvSpPr>
        <p:spPr>
          <a:xfrm>
            <a:off x="849086" y="2188029"/>
            <a:ext cx="4637315" cy="76944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/>
              <a:t>12. </a:t>
            </a:r>
            <a:r>
              <a:rPr lang="en-US" sz="1400" dirty="0" err="1"/>
              <a:t>Una</a:t>
            </a:r>
            <a:r>
              <a:rPr lang="en-US" sz="1400" dirty="0"/>
              <a:t> </a:t>
            </a:r>
            <a:r>
              <a:rPr lang="en-US" sz="1400" dirty="0" err="1"/>
              <a:t>propiedad</a:t>
            </a:r>
            <a:r>
              <a:rPr lang="en-US" sz="1400" dirty="0"/>
              <a:t> produce 144 </a:t>
            </a:r>
            <a:r>
              <a:rPr lang="en-US" sz="1400" dirty="0" err="1"/>
              <a:t>monedas</a:t>
            </a:r>
            <a:r>
              <a:rPr lang="en-US" sz="1400" dirty="0"/>
              <a:t> de </a:t>
            </a:r>
            <a:r>
              <a:rPr lang="en-US" sz="1400" dirty="0" err="1"/>
              <a:t>alquiler</a:t>
            </a:r>
            <a:r>
              <a:rPr lang="en-US" sz="1400" dirty="0"/>
              <a:t> y se </a:t>
            </a:r>
            <a:r>
              <a:rPr lang="en-US" sz="1400" dirty="0" err="1"/>
              <a:t>reparte</a:t>
            </a:r>
            <a:r>
              <a:rPr lang="en-US" sz="1400" dirty="0"/>
              <a:t> entre 12 </a:t>
            </a:r>
            <a:r>
              <a:rPr lang="en-US" sz="1400" dirty="0" err="1"/>
              <a:t>jugadores</a:t>
            </a:r>
            <a:r>
              <a:rPr lang="en-US" sz="1400" dirty="0"/>
              <a:t>. ¿</a:t>
            </a:r>
            <a:r>
              <a:rPr lang="en-US" sz="1400" dirty="0" err="1"/>
              <a:t>Cuánto</a:t>
            </a:r>
            <a:r>
              <a:rPr lang="en-US" sz="1400" dirty="0"/>
              <a:t> </a:t>
            </a:r>
            <a:r>
              <a:rPr lang="en-US" sz="1400" dirty="0" err="1"/>
              <a:t>recibe</a:t>
            </a:r>
            <a:r>
              <a:rPr lang="en-US" sz="1400" dirty="0"/>
              <a:t> </a:t>
            </a:r>
            <a:r>
              <a:rPr lang="en-US" sz="1400" dirty="0" err="1"/>
              <a:t>cada</a:t>
            </a:r>
            <a:r>
              <a:rPr lang="en-US" sz="1400" dirty="0"/>
              <a:t> </a:t>
            </a:r>
            <a:r>
              <a:rPr lang="en-US" sz="1400" dirty="0" err="1"/>
              <a:t>uno</a:t>
            </a:r>
            <a:r>
              <a:rPr lang="en-US" sz="1400" dirty="0"/>
              <a:t>?</a:t>
            </a:r>
            <a:br>
              <a:rPr lang="en-US" sz="1400" dirty="0"/>
            </a:br>
            <a:endParaRPr lang="en-US" sz="1600" b="1" dirty="0">
              <a:latin typeface="Georgia" panose="02040502050405020303" pitchFamily="18" charset="0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849087" y="3332840"/>
            <a:ext cx="4637315" cy="33855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 err="1"/>
              <a:t>Respuesta</a:t>
            </a:r>
            <a:r>
              <a:rPr lang="en-US" sz="1600" dirty="0"/>
              <a:t>: 12</a:t>
            </a:r>
          </a:p>
        </p:txBody>
      </p:sp>
      <p:sp>
        <p:nvSpPr>
          <p:cNvPr id="12" name="CuadroTexto 11"/>
          <p:cNvSpPr txBox="1"/>
          <p:nvPr/>
        </p:nvSpPr>
        <p:spPr>
          <a:xfrm>
            <a:off x="6709719" y="1864863"/>
            <a:ext cx="4843849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12. </a:t>
            </a:r>
            <a:r>
              <a:rPr lang="en-US" dirty="0" err="1"/>
              <a:t>Mundo</a:t>
            </a:r>
            <a:r>
              <a:rPr lang="en-US" dirty="0"/>
              <a:t> de </a:t>
            </a:r>
            <a:r>
              <a:rPr lang="en-US" dirty="0" err="1"/>
              <a:t>las</a:t>
            </a:r>
            <a:r>
              <a:rPr lang="en-US" dirty="0"/>
              <a:t> </a:t>
            </a:r>
            <a:r>
              <a:rPr lang="en-US" dirty="0" err="1"/>
              <a:t>Potencias</a:t>
            </a:r>
            <a:br>
              <a:rPr lang="en-US" dirty="0"/>
            </a:br>
            <a:endParaRPr lang="en-US" dirty="0"/>
          </a:p>
        </p:txBody>
      </p:sp>
      <p:sp>
        <p:nvSpPr>
          <p:cNvPr id="13" name="CuadroTexto 12"/>
          <p:cNvSpPr txBox="1"/>
          <p:nvPr/>
        </p:nvSpPr>
        <p:spPr>
          <a:xfrm>
            <a:off x="6762002" y="2745008"/>
            <a:ext cx="4843849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Operación</a:t>
            </a:r>
            <a:r>
              <a:rPr lang="en-US" dirty="0"/>
              <a:t>: (300 × 5) - 400 + 250</a:t>
            </a:r>
            <a:br>
              <a:rPr lang="en-US" dirty="0"/>
            </a:br>
            <a:endParaRPr lang="en-US" dirty="0"/>
          </a:p>
        </p:txBody>
      </p:sp>
      <p:sp>
        <p:nvSpPr>
          <p:cNvPr id="14" name="CuadroTexto 13"/>
          <p:cNvSpPr txBox="1"/>
          <p:nvPr/>
        </p:nvSpPr>
        <p:spPr>
          <a:xfrm>
            <a:off x="6709719" y="3723674"/>
            <a:ext cx="4843849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Valor: 1350 </a:t>
            </a:r>
            <a:r>
              <a:rPr lang="en-US" dirty="0" err="1"/>
              <a:t>monedas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93246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978" y="909346"/>
            <a:ext cx="5722107" cy="3268954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235" y="717628"/>
            <a:ext cx="5330483" cy="3899342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6709719" y="3717561"/>
            <a:ext cx="4843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dirty="0"/>
              <a:t> </a:t>
            </a:r>
            <a:endParaRPr lang="en-US" dirty="0"/>
          </a:p>
        </p:txBody>
      </p:sp>
      <p:sp>
        <p:nvSpPr>
          <p:cNvPr id="10" name="CuadroTexto 9"/>
          <p:cNvSpPr txBox="1"/>
          <p:nvPr/>
        </p:nvSpPr>
        <p:spPr>
          <a:xfrm>
            <a:off x="849086" y="2188029"/>
            <a:ext cx="4637315" cy="55399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err="1"/>
              <a:t>Esta</a:t>
            </a:r>
            <a:r>
              <a:rPr lang="en-US" sz="1400" dirty="0"/>
              <a:t> </a:t>
            </a:r>
            <a:r>
              <a:rPr lang="en-US" sz="1400" dirty="0" err="1"/>
              <a:t>tarjeta</a:t>
            </a:r>
            <a:r>
              <a:rPr lang="en-US" sz="1400" dirty="0"/>
              <a:t> </a:t>
            </a:r>
            <a:r>
              <a:rPr lang="en-US" sz="1400" dirty="0" err="1"/>
              <a:t>será</a:t>
            </a:r>
            <a:r>
              <a:rPr lang="en-US" sz="1400" dirty="0"/>
              <a:t> </a:t>
            </a:r>
            <a:r>
              <a:rPr lang="en-US" sz="1400" dirty="0" err="1"/>
              <a:t>utilizada</a:t>
            </a:r>
            <a:r>
              <a:rPr lang="en-US" sz="1400" dirty="0"/>
              <a:t> para </a:t>
            </a:r>
            <a:r>
              <a:rPr lang="en-US" sz="1400" dirty="0" err="1"/>
              <a:t>salir</a:t>
            </a:r>
            <a:r>
              <a:rPr lang="en-US" sz="1400" dirty="0"/>
              <a:t> de la </a:t>
            </a:r>
            <a:r>
              <a:rPr lang="en-US" sz="1400" dirty="0" err="1"/>
              <a:t>casilla</a:t>
            </a:r>
            <a:r>
              <a:rPr lang="en-US" sz="1400" dirty="0"/>
              <a:t> de </a:t>
            </a:r>
            <a:r>
              <a:rPr lang="en-US" sz="1400" dirty="0" err="1"/>
              <a:t>castigo</a:t>
            </a:r>
            <a:r>
              <a:rPr lang="en-US" sz="1400" dirty="0"/>
              <a:t>.</a:t>
            </a:r>
            <a:br>
              <a:rPr lang="en-US" sz="1400" dirty="0"/>
            </a:br>
            <a:endParaRPr lang="en-US" sz="1600" b="1" dirty="0">
              <a:latin typeface="Georgia" panose="02040502050405020303" pitchFamily="18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6709719" y="1864863"/>
            <a:ext cx="4843849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Esta</a:t>
            </a:r>
            <a:r>
              <a:rPr lang="en-US" dirty="0"/>
              <a:t> </a:t>
            </a:r>
            <a:r>
              <a:rPr lang="en-US" dirty="0" err="1"/>
              <a:t>tarjeta</a:t>
            </a:r>
            <a:r>
              <a:rPr lang="en-US" dirty="0"/>
              <a:t> </a:t>
            </a:r>
            <a:r>
              <a:rPr lang="en-US" dirty="0" err="1"/>
              <a:t>será</a:t>
            </a:r>
            <a:r>
              <a:rPr lang="en-US" dirty="0"/>
              <a:t> </a:t>
            </a:r>
            <a:r>
              <a:rPr lang="en-US" dirty="0" err="1"/>
              <a:t>utilizada</a:t>
            </a:r>
            <a:r>
              <a:rPr lang="en-US" dirty="0"/>
              <a:t> para </a:t>
            </a:r>
            <a:r>
              <a:rPr lang="en-US" dirty="0" err="1"/>
              <a:t>salir</a:t>
            </a:r>
            <a:r>
              <a:rPr lang="en-US" dirty="0"/>
              <a:t> de la </a:t>
            </a:r>
            <a:r>
              <a:rPr lang="en-US" dirty="0" err="1"/>
              <a:t>casilla</a:t>
            </a:r>
            <a:r>
              <a:rPr lang="en-US" dirty="0"/>
              <a:t> de </a:t>
            </a:r>
            <a:r>
              <a:rPr lang="en-US" dirty="0" err="1"/>
              <a:t>castigo</a:t>
            </a:r>
            <a:endParaRPr lang="en-U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4D3831B-509A-F1DC-D127-D25B4D244D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086" y="2804364"/>
            <a:ext cx="5246914" cy="124927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E434548-75FF-6251-6181-60E7BAE711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1193" y="2515803"/>
            <a:ext cx="4982375" cy="1831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185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54704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628</Words>
  <Application>Microsoft Office PowerPoint</Application>
  <PresentationFormat>Panorámica</PresentationFormat>
  <Paragraphs>88</Paragraphs>
  <Slides>14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Georgia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XANDERDESK</dc:creator>
  <cp:lastModifiedBy>Nico Romero</cp:lastModifiedBy>
  <cp:revision>8</cp:revision>
  <dcterms:created xsi:type="dcterms:W3CDTF">2026-09-15T16:31:12Z</dcterms:created>
  <dcterms:modified xsi:type="dcterms:W3CDTF">2026-09-16T01:21:34Z</dcterms:modified>
</cp:coreProperties>
</file>